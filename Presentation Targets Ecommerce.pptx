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Poppins" panose="00000500000000000000" pitchFamily="2" charset="0"/>
      <p:regular r:id="rId15"/>
    </p:embeddedFont>
    <p:embeddedFont>
      <p:font typeface="Poppins Bold" panose="00000800000000000000"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566" y="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mar Mushtaq" userId="5ffb4216e2ab6ee2" providerId="LiveId" clId="{2D02265F-E4A8-4E72-A245-F6BC351013FC}"/>
    <pc:docChg chg="modSld">
      <pc:chgData name="Umar Mushtaq" userId="5ffb4216e2ab6ee2" providerId="LiveId" clId="{2D02265F-E4A8-4E72-A245-F6BC351013FC}" dt="2025-06-21T06:19:54.178" v="64" actId="20577"/>
      <pc:docMkLst>
        <pc:docMk/>
      </pc:docMkLst>
      <pc:sldChg chg="modSp mod">
        <pc:chgData name="Umar Mushtaq" userId="5ffb4216e2ab6ee2" providerId="LiveId" clId="{2D02265F-E4A8-4E72-A245-F6BC351013FC}" dt="2025-06-21T06:19:54.178" v="64" actId="20577"/>
        <pc:sldMkLst>
          <pc:docMk/>
          <pc:sldMk cId="0" sldId="256"/>
        </pc:sldMkLst>
        <pc:spChg chg="mod">
          <ac:chgData name="Umar Mushtaq" userId="5ffb4216e2ab6ee2" providerId="LiveId" clId="{2D02265F-E4A8-4E72-A245-F6BC351013FC}" dt="2025-06-21T06:19:54.178" v="64" actId="20577"/>
          <ac:spMkLst>
            <pc:docMk/>
            <pc:sldMk cId="0" sldId="256"/>
            <ac:spMk id="10"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4.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7F7"/>
        </a:solidFill>
        <a:effectLst/>
      </p:bgPr>
    </p:bg>
    <p:spTree>
      <p:nvGrpSpPr>
        <p:cNvPr id="1" name=""/>
        <p:cNvGrpSpPr/>
        <p:nvPr/>
      </p:nvGrpSpPr>
      <p:grpSpPr>
        <a:xfrm>
          <a:off x="0" y="0"/>
          <a:ext cx="0" cy="0"/>
          <a:chOff x="0" y="0"/>
          <a:chExt cx="0" cy="0"/>
        </a:xfrm>
      </p:grpSpPr>
      <p:sp>
        <p:nvSpPr>
          <p:cNvPr id="2" name="Freeform 2"/>
          <p:cNvSpPr/>
          <p:nvPr/>
        </p:nvSpPr>
        <p:spPr>
          <a:xfrm>
            <a:off x="12104827" y="1347181"/>
            <a:ext cx="4693892" cy="6203039"/>
          </a:xfrm>
          <a:custGeom>
            <a:avLst/>
            <a:gdLst/>
            <a:ahLst/>
            <a:cxnLst/>
            <a:rect l="l" t="t" r="r" b="b"/>
            <a:pathLst>
              <a:path w="4693892" h="6203039">
                <a:moveTo>
                  <a:pt x="0" y="0"/>
                </a:moveTo>
                <a:lnTo>
                  <a:pt x="4693892" y="0"/>
                </a:lnTo>
                <a:lnTo>
                  <a:pt x="4693892" y="6203040"/>
                </a:lnTo>
                <a:lnTo>
                  <a:pt x="0" y="62030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6798719" y="-287305"/>
            <a:ext cx="2978563" cy="1634486"/>
          </a:xfrm>
          <a:custGeom>
            <a:avLst/>
            <a:gdLst/>
            <a:ahLst/>
            <a:cxnLst/>
            <a:rect l="l" t="t" r="r" b="b"/>
            <a:pathLst>
              <a:path w="2978563" h="1634486">
                <a:moveTo>
                  <a:pt x="0" y="0"/>
                </a:moveTo>
                <a:lnTo>
                  <a:pt x="2978562" y="0"/>
                </a:lnTo>
                <a:lnTo>
                  <a:pt x="2978562" y="1634486"/>
                </a:lnTo>
                <a:lnTo>
                  <a:pt x="0" y="16344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4" name="Group 4"/>
          <p:cNvGrpSpPr/>
          <p:nvPr/>
        </p:nvGrpSpPr>
        <p:grpSpPr>
          <a:xfrm>
            <a:off x="-2226205" y="-166620"/>
            <a:ext cx="3086100" cy="10620241"/>
            <a:chOff x="0" y="0"/>
            <a:chExt cx="812800" cy="2797100"/>
          </a:xfrm>
        </p:grpSpPr>
        <p:sp>
          <p:nvSpPr>
            <p:cNvPr id="5" name="Freeform 5"/>
            <p:cNvSpPr/>
            <p:nvPr/>
          </p:nvSpPr>
          <p:spPr>
            <a:xfrm>
              <a:off x="0" y="0"/>
              <a:ext cx="812800" cy="2797101"/>
            </a:xfrm>
            <a:custGeom>
              <a:avLst/>
              <a:gdLst/>
              <a:ahLst/>
              <a:cxnLst/>
              <a:rect l="l" t="t" r="r" b="b"/>
              <a:pathLst>
                <a:path w="812800" h="2797101">
                  <a:moveTo>
                    <a:pt x="0" y="0"/>
                  </a:moveTo>
                  <a:lnTo>
                    <a:pt x="812800" y="0"/>
                  </a:lnTo>
                  <a:lnTo>
                    <a:pt x="812800" y="2797101"/>
                  </a:lnTo>
                  <a:lnTo>
                    <a:pt x="0" y="2797101"/>
                  </a:lnTo>
                  <a:close/>
                </a:path>
              </a:pathLst>
            </a:custGeom>
            <a:solidFill>
              <a:srgbClr val="FC0328"/>
            </a:solidFill>
          </p:spPr>
          <p:txBody>
            <a:bodyPr/>
            <a:lstStyle/>
            <a:p>
              <a:endParaRPr lang="en-IN"/>
            </a:p>
          </p:txBody>
        </p:sp>
        <p:sp>
          <p:nvSpPr>
            <p:cNvPr id="6" name="TextBox 6"/>
            <p:cNvSpPr txBox="1"/>
            <p:nvPr/>
          </p:nvSpPr>
          <p:spPr>
            <a:xfrm>
              <a:off x="0" y="9525"/>
              <a:ext cx="812800" cy="2787575"/>
            </a:xfrm>
            <a:prstGeom prst="rect">
              <a:avLst/>
            </a:prstGeom>
          </p:spPr>
          <p:txBody>
            <a:bodyPr lIns="50800" tIns="50800" rIns="50800" bIns="50800" rtlCol="0" anchor="ctr"/>
            <a:lstStyle/>
            <a:p>
              <a:pPr algn="ctr">
                <a:lnSpc>
                  <a:spcPts val="2624"/>
                </a:lnSpc>
              </a:pPr>
              <a:endParaRPr/>
            </a:p>
          </p:txBody>
        </p:sp>
      </p:grpSp>
      <p:sp>
        <p:nvSpPr>
          <p:cNvPr id="7" name="Freeform 7"/>
          <p:cNvSpPr/>
          <p:nvPr/>
        </p:nvSpPr>
        <p:spPr>
          <a:xfrm>
            <a:off x="1170219" y="529938"/>
            <a:ext cx="2119363" cy="1195320"/>
          </a:xfrm>
          <a:custGeom>
            <a:avLst/>
            <a:gdLst/>
            <a:ahLst/>
            <a:cxnLst/>
            <a:rect l="l" t="t" r="r" b="b"/>
            <a:pathLst>
              <a:path w="2119363" h="1195320">
                <a:moveTo>
                  <a:pt x="0" y="0"/>
                </a:moveTo>
                <a:lnTo>
                  <a:pt x="2119363" y="0"/>
                </a:lnTo>
                <a:lnTo>
                  <a:pt x="2119363" y="1195321"/>
                </a:lnTo>
                <a:lnTo>
                  <a:pt x="0" y="1195321"/>
                </a:lnTo>
                <a:lnTo>
                  <a:pt x="0" y="0"/>
                </a:lnTo>
                <a:close/>
              </a:path>
            </a:pathLst>
          </a:custGeom>
          <a:blipFill>
            <a:blip r:embed="rId6"/>
            <a:stretch>
              <a:fillRect/>
            </a:stretch>
          </a:blipFill>
        </p:spPr>
        <p:txBody>
          <a:bodyPr/>
          <a:lstStyle/>
          <a:p>
            <a:endParaRPr lang="en-IN"/>
          </a:p>
        </p:txBody>
      </p:sp>
      <p:sp>
        <p:nvSpPr>
          <p:cNvPr id="8" name="TextBox 8"/>
          <p:cNvSpPr txBox="1"/>
          <p:nvPr/>
        </p:nvSpPr>
        <p:spPr>
          <a:xfrm>
            <a:off x="1368324" y="2010428"/>
            <a:ext cx="11414334" cy="1808475"/>
          </a:xfrm>
          <a:prstGeom prst="rect">
            <a:avLst/>
          </a:prstGeom>
        </p:spPr>
        <p:txBody>
          <a:bodyPr lIns="0" tIns="0" rIns="0" bIns="0" rtlCol="0" anchor="t">
            <a:spAutoFit/>
          </a:bodyPr>
          <a:lstStyle/>
          <a:p>
            <a:pPr algn="l">
              <a:lnSpc>
                <a:spcPts val="6759"/>
              </a:lnSpc>
            </a:pPr>
            <a:r>
              <a:rPr lang="en-US" sz="6499" b="1">
                <a:solidFill>
                  <a:srgbClr val="FC0328"/>
                </a:solidFill>
                <a:latin typeface="Poppins Bold"/>
                <a:ea typeface="Poppins Bold"/>
                <a:cs typeface="Poppins Bold"/>
                <a:sym typeface="Poppins Bold"/>
              </a:rPr>
              <a:t>Target Ecommerce Data Analytics Project</a:t>
            </a:r>
          </a:p>
        </p:txBody>
      </p:sp>
      <p:sp>
        <p:nvSpPr>
          <p:cNvPr id="9" name="TextBox 9"/>
          <p:cNvSpPr txBox="1"/>
          <p:nvPr/>
        </p:nvSpPr>
        <p:spPr>
          <a:xfrm>
            <a:off x="1368324" y="4085604"/>
            <a:ext cx="9117645" cy="966734"/>
          </a:xfrm>
          <a:prstGeom prst="rect">
            <a:avLst/>
          </a:prstGeom>
        </p:spPr>
        <p:txBody>
          <a:bodyPr lIns="0" tIns="0" rIns="0" bIns="0" rtlCol="0" anchor="t">
            <a:spAutoFit/>
          </a:bodyPr>
          <a:lstStyle/>
          <a:p>
            <a:pPr algn="l">
              <a:lnSpc>
                <a:spcPts val="3653"/>
              </a:lnSpc>
            </a:pPr>
            <a:r>
              <a:rPr lang="en-US" sz="3512" b="1">
                <a:solidFill>
                  <a:srgbClr val="FC0328"/>
                </a:solidFill>
                <a:latin typeface="Poppins Bold"/>
                <a:ea typeface="Poppins Bold"/>
                <a:cs typeface="Poppins Bold"/>
                <a:sym typeface="Poppins Bold"/>
              </a:rPr>
              <a:t>  From Raw Data to Actionable Insights  </a:t>
            </a:r>
          </a:p>
          <a:p>
            <a:pPr algn="l">
              <a:lnSpc>
                <a:spcPts val="3653"/>
              </a:lnSpc>
            </a:pPr>
            <a:endParaRPr lang="en-US" sz="3512" b="1">
              <a:solidFill>
                <a:srgbClr val="FC0328"/>
              </a:solidFill>
              <a:latin typeface="Poppins Bold"/>
              <a:ea typeface="Poppins Bold"/>
              <a:cs typeface="Poppins Bold"/>
              <a:sym typeface="Poppins Bold"/>
            </a:endParaRPr>
          </a:p>
        </p:txBody>
      </p:sp>
      <p:sp>
        <p:nvSpPr>
          <p:cNvPr id="10" name="TextBox 10"/>
          <p:cNvSpPr txBox="1"/>
          <p:nvPr/>
        </p:nvSpPr>
        <p:spPr>
          <a:xfrm>
            <a:off x="1368058" y="5057775"/>
            <a:ext cx="7775942" cy="1861087"/>
          </a:xfrm>
          <a:prstGeom prst="rect">
            <a:avLst/>
          </a:prstGeom>
        </p:spPr>
        <p:txBody>
          <a:bodyPr lIns="0" tIns="0" rIns="0" bIns="0" rtlCol="0" anchor="t">
            <a:spAutoFit/>
          </a:bodyPr>
          <a:lstStyle/>
          <a:p>
            <a:pPr algn="just">
              <a:lnSpc>
                <a:spcPts val="4855"/>
              </a:lnSpc>
            </a:pPr>
            <a:r>
              <a:rPr lang="en-US" sz="3706" dirty="0">
                <a:solidFill>
                  <a:srgbClr val="0F0E0E"/>
                </a:solidFill>
                <a:latin typeface="Poppins"/>
                <a:ea typeface="Poppins"/>
                <a:cs typeface="Poppins"/>
                <a:sym typeface="Poppins"/>
              </a:rPr>
              <a:t>By: </a:t>
            </a:r>
            <a:r>
              <a:rPr lang="en-US" sz="3706">
                <a:solidFill>
                  <a:srgbClr val="0F0E0E"/>
                </a:solidFill>
                <a:latin typeface="Poppins"/>
                <a:ea typeface="Poppins"/>
                <a:cs typeface="Poppins"/>
                <a:sym typeface="Poppins"/>
              </a:rPr>
              <a:t>Umar Mushtaq</a:t>
            </a:r>
            <a:endParaRPr lang="en-US" sz="3706" dirty="0">
              <a:solidFill>
                <a:srgbClr val="0F0E0E"/>
              </a:solidFill>
              <a:latin typeface="Poppins"/>
              <a:ea typeface="Poppins"/>
              <a:cs typeface="Poppins"/>
              <a:sym typeface="Poppins"/>
            </a:endParaRPr>
          </a:p>
          <a:p>
            <a:pPr algn="just">
              <a:lnSpc>
                <a:spcPts val="4855"/>
              </a:lnSpc>
            </a:pPr>
            <a:r>
              <a:rPr lang="en-US" sz="3706" dirty="0">
                <a:solidFill>
                  <a:srgbClr val="0F0E0E"/>
                </a:solidFill>
                <a:latin typeface="Poppins"/>
                <a:ea typeface="Poppins"/>
                <a:cs typeface="Poppins"/>
                <a:sym typeface="Poppins"/>
              </a:rPr>
              <a:t>Supervised by: Dr Nayer (Jamia Hamdard Professor)</a:t>
            </a:r>
          </a:p>
        </p:txBody>
      </p:sp>
      <p:sp>
        <p:nvSpPr>
          <p:cNvPr id="11" name="TextBox 11"/>
          <p:cNvSpPr txBox="1"/>
          <p:nvPr/>
        </p:nvSpPr>
        <p:spPr>
          <a:xfrm>
            <a:off x="1368058" y="7607371"/>
            <a:ext cx="11379056" cy="1622273"/>
          </a:xfrm>
          <a:prstGeom prst="rect">
            <a:avLst/>
          </a:prstGeom>
        </p:spPr>
        <p:txBody>
          <a:bodyPr lIns="0" tIns="0" rIns="0" bIns="0" rtlCol="0" anchor="t">
            <a:spAutoFit/>
          </a:bodyPr>
          <a:lstStyle/>
          <a:p>
            <a:pPr algn="l">
              <a:lnSpc>
                <a:spcPts val="3154"/>
              </a:lnSpc>
            </a:pPr>
            <a:r>
              <a:rPr lang="en-US" sz="2523">
                <a:solidFill>
                  <a:srgbClr val="000000"/>
                </a:solidFill>
                <a:latin typeface="Poppins"/>
                <a:ea typeface="Poppins"/>
                <a:cs typeface="Poppins"/>
                <a:sym typeface="Poppins"/>
              </a:rPr>
              <a:t>This presentation explores a comprehensive sales analytics solution for Target, leveraging MySQL, Python, and Power BI to uncover customer behavior, revenue trends, and operational insights—transforming raw data into actionable strategies for growth.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7F7"/>
        </a:solidFill>
        <a:effectLst/>
      </p:bgPr>
    </p:bg>
    <p:spTree>
      <p:nvGrpSpPr>
        <p:cNvPr id="1" name=""/>
        <p:cNvGrpSpPr/>
        <p:nvPr/>
      </p:nvGrpSpPr>
      <p:grpSpPr>
        <a:xfrm>
          <a:off x="0" y="0"/>
          <a:ext cx="0" cy="0"/>
          <a:chOff x="0" y="0"/>
          <a:chExt cx="0" cy="0"/>
        </a:xfrm>
      </p:grpSpPr>
      <p:sp>
        <p:nvSpPr>
          <p:cNvPr id="2" name="Freeform 2"/>
          <p:cNvSpPr/>
          <p:nvPr/>
        </p:nvSpPr>
        <p:spPr>
          <a:xfrm>
            <a:off x="6229648" y="872711"/>
            <a:ext cx="4040300" cy="7220072"/>
          </a:xfrm>
          <a:custGeom>
            <a:avLst/>
            <a:gdLst/>
            <a:ahLst/>
            <a:cxnLst/>
            <a:rect l="l" t="t" r="r" b="b"/>
            <a:pathLst>
              <a:path w="4040300" h="7220072">
                <a:moveTo>
                  <a:pt x="0" y="0"/>
                </a:moveTo>
                <a:lnTo>
                  <a:pt x="4040299" y="0"/>
                </a:lnTo>
                <a:lnTo>
                  <a:pt x="4040299" y="7220072"/>
                </a:lnTo>
                <a:lnTo>
                  <a:pt x="0" y="7220072"/>
                </a:lnTo>
                <a:lnTo>
                  <a:pt x="0" y="0"/>
                </a:lnTo>
                <a:close/>
              </a:path>
            </a:pathLst>
          </a:custGeom>
          <a:blipFill>
            <a:blip r:embed="rId2">
              <a:extLst>
                <a:ext uri="{96DAC541-7B7A-43D3-8B79-37D633B846F1}">
                  <asvg:svgBlip xmlns:asvg="http://schemas.microsoft.com/office/drawing/2016/SVG/main" r:embed="rId3"/>
                </a:ext>
              </a:extLst>
            </a:blip>
            <a:stretch>
              <a:fillRect l="-173776"/>
            </a:stretch>
          </a:blipFill>
        </p:spPr>
        <p:txBody>
          <a:bodyPr/>
          <a:lstStyle/>
          <a:p>
            <a:endParaRPr lang="en-IN"/>
          </a:p>
        </p:txBody>
      </p:sp>
      <p:sp>
        <p:nvSpPr>
          <p:cNvPr id="3" name="TextBox 3"/>
          <p:cNvSpPr txBox="1"/>
          <p:nvPr/>
        </p:nvSpPr>
        <p:spPr>
          <a:xfrm>
            <a:off x="799126" y="2529067"/>
            <a:ext cx="5820223" cy="1482768"/>
          </a:xfrm>
          <a:prstGeom prst="rect">
            <a:avLst/>
          </a:prstGeom>
        </p:spPr>
        <p:txBody>
          <a:bodyPr lIns="0" tIns="0" rIns="0" bIns="0" rtlCol="0" anchor="t">
            <a:spAutoFit/>
          </a:bodyPr>
          <a:lstStyle/>
          <a:p>
            <a:pPr algn="l">
              <a:lnSpc>
                <a:spcPts val="10564"/>
              </a:lnSpc>
            </a:pPr>
            <a:r>
              <a:rPr lang="en-US" sz="10158" b="1">
                <a:solidFill>
                  <a:srgbClr val="FC0328"/>
                </a:solidFill>
                <a:latin typeface="Poppins Bold"/>
                <a:ea typeface="Poppins Bold"/>
                <a:cs typeface="Poppins Bold"/>
                <a:sym typeface="Poppins Bold"/>
              </a:rPr>
              <a:t>Agenda</a:t>
            </a:r>
          </a:p>
        </p:txBody>
      </p:sp>
      <p:sp>
        <p:nvSpPr>
          <p:cNvPr id="4" name="Freeform 4"/>
          <p:cNvSpPr/>
          <p:nvPr/>
        </p:nvSpPr>
        <p:spPr>
          <a:xfrm>
            <a:off x="-690155" y="-440201"/>
            <a:ext cx="2978563" cy="1634486"/>
          </a:xfrm>
          <a:custGeom>
            <a:avLst/>
            <a:gdLst/>
            <a:ahLst/>
            <a:cxnLst/>
            <a:rect l="l" t="t" r="r" b="b"/>
            <a:pathLst>
              <a:path w="2978563" h="1634486">
                <a:moveTo>
                  <a:pt x="0" y="0"/>
                </a:moveTo>
                <a:lnTo>
                  <a:pt x="2978562" y="0"/>
                </a:lnTo>
                <a:lnTo>
                  <a:pt x="2978562" y="1634487"/>
                </a:lnTo>
                <a:lnTo>
                  <a:pt x="0" y="16344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5" name="Group 5"/>
          <p:cNvGrpSpPr/>
          <p:nvPr/>
        </p:nvGrpSpPr>
        <p:grpSpPr>
          <a:xfrm>
            <a:off x="-997500" y="9627318"/>
            <a:ext cx="22894267" cy="10620241"/>
            <a:chOff x="0" y="0"/>
            <a:chExt cx="6029766" cy="2797100"/>
          </a:xfrm>
        </p:grpSpPr>
        <p:sp>
          <p:nvSpPr>
            <p:cNvPr id="6" name="Freeform 6"/>
            <p:cNvSpPr/>
            <p:nvPr/>
          </p:nvSpPr>
          <p:spPr>
            <a:xfrm>
              <a:off x="0" y="0"/>
              <a:ext cx="6029766" cy="2797101"/>
            </a:xfrm>
            <a:custGeom>
              <a:avLst/>
              <a:gdLst/>
              <a:ahLst/>
              <a:cxnLst/>
              <a:rect l="l" t="t" r="r" b="b"/>
              <a:pathLst>
                <a:path w="6029766" h="2797101">
                  <a:moveTo>
                    <a:pt x="0" y="0"/>
                  </a:moveTo>
                  <a:lnTo>
                    <a:pt x="6029766" y="0"/>
                  </a:lnTo>
                  <a:lnTo>
                    <a:pt x="6029766" y="2797101"/>
                  </a:lnTo>
                  <a:lnTo>
                    <a:pt x="0" y="2797101"/>
                  </a:lnTo>
                  <a:close/>
                </a:path>
              </a:pathLst>
            </a:custGeom>
            <a:solidFill>
              <a:srgbClr val="FC0328"/>
            </a:solidFill>
          </p:spPr>
          <p:txBody>
            <a:bodyPr/>
            <a:lstStyle/>
            <a:p>
              <a:endParaRPr lang="en-IN"/>
            </a:p>
          </p:txBody>
        </p:sp>
        <p:sp>
          <p:nvSpPr>
            <p:cNvPr id="7" name="TextBox 7"/>
            <p:cNvSpPr txBox="1"/>
            <p:nvPr/>
          </p:nvSpPr>
          <p:spPr>
            <a:xfrm>
              <a:off x="0" y="9525"/>
              <a:ext cx="6029766" cy="2787575"/>
            </a:xfrm>
            <a:prstGeom prst="rect">
              <a:avLst/>
            </a:prstGeom>
          </p:spPr>
          <p:txBody>
            <a:bodyPr lIns="50800" tIns="50800" rIns="50800" bIns="50800" rtlCol="0" anchor="ctr"/>
            <a:lstStyle/>
            <a:p>
              <a:pPr algn="ctr">
                <a:lnSpc>
                  <a:spcPts val="2624"/>
                </a:lnSpc>
              </a:pPr>
              <a:endParaRPr/>
            </a:p>
          </p:txBody>
        </p:sp>
      </p:grpSp>
      <p:sp>
        <p:nvSpPr>
          <p:cNvPr id="8" name="Freeform 8"/>
          <p:cNvSpPr/>
          <p:nvPr/>
        </p:nvSpPr>
        <p:spPr>
          <a:xfrm>
            <a:off x="799126" y="431040"/>
            <a:ext cx="2119363" cy="1195320"/>
          </a:xfrm>
          <a:custGeom>
            <a:avLst/>
            <a:gdLst/>
            <a:ahLst/>
            <a:cxnLst/>
            <a:rect l="l" t="t" r="r" b="b"/>
            <a:pathLst>
              <a:path w="2119363" h="1195320">
                <a:moveTo>
                  <a:pt x="0" y="0"/>
                </a:moveTo>
                <a:lnTo>
                  <a:pt x="2119362" y="0"/>
                </a:lnTo>
                <a:lnTo>
                  <a:pt x="2119362" y="1195320"/>
                </a:lnTo>
                <a:lnTo>
                  <a:pt x="0" y="1195320"/>
                </a:lnTo>
                <a:lnTo>
                  <a:pt x="0" y="0"/>
                </a:lnTo>
                <a:close/>
              </a:path>
            </a:pathLst>
          </a:custGeom>
          <a:blipFill>
            <a:blip r:embed="rId6"/>
            <a:stretch>
              <a:fillRect/>
            </a:stretch>
          </a:blipFill>
        </p:spPr>
        <p:txBody>
          <a:bodyPr/>
          <a:lstStyle/>
          <a:p>
            <a:endParaRPr lang="en-IN"/>
          </a:p>
        </p:txBody>
      </p:sp>
      <p:sp>
        <p:nvSpPr>
          <p:cNvPr id="9" name="TextBox 9"/>
          <p:cNvSpPr txBox="1"/>
          <p:nvPr/>
        </p:nvSpPr>
        <p:spPr>
          <a:xfrm>
            <a:off x="10430584" y="2052817"/>
            <a:ext cx="5549106" cy="5581224"/>
          </a:xfrm>
          <a:prstGeom prst="rect">
            <a:avLst/>
          </a:prstGeom>
        </p:spPr>
        <p:txBody>
          <a:bodyPr lIns="0" tIns="0" rIns="0" bIns="0" rtlCol="0" anchor="t">
            <a:spAutoFit/>
          </a:bodyPr>
          <a:lstStyle/>
          <a:p>
            <a:pPr algn="l">
              <a:lnSpc>
                <a:spcPts val="8951"/>
              </a:lnSpc>
            </a:pPr>
            <a:r>
              <a:rPr lang="en-US" sz="4144">
                <a:solidFill>
                  <a:srgbClr val="000000"/>
                </a:solidFill>
                <a:latin typeface="Poppins"/>
                <a:ea typeface="Poppins"/>
                <a:cs typeface="Poppins"/>
                <a:sym typeface="Poppins"/>
              </a:rPr>
              <a:t>Project Overview  </a:t>
            </a:r>
          </a:p>
          <a:p>
            <a:pPr algn="l">
              <a:lnSpc>
                <a:spcPts val="8951"/>
              </a:lnSpc>
            </a:pPr>
            <a:r>
              <a:rPr lang="en-US" sz="4144">
                <a:solidFill>
                  <a:srgbClr val="000000"/>
                </a:solidFill>
                <a:latin typeface="Poppins"/>
                <a:ea typeface="Poppins"/>
                <a:cs typeface="Poppins"/>
                <a:sym typeface="Poppins"/>
              </a:rPr>
              <a:t>Data Pipeline  </a:t>
            </a:r>
          </a:p>
          <a:p>
            <a:pPr algn="l">
              <a:lnSpc>
                <a:spcPts val="8951"/>
              </a:lnSpc>
            </a:pPr>
            <a:r>
              <a:rPr lang="en-US" sz="4144">
                <a:solidFill>
                  <a:srgbClr val="000000"/>
                </a:solidFill>
                <a:latin typeface="Poppins"/>
                <a:ea typeface="Poppins"/>
                <a:cs typeface="Poppins"/>
                <a:sym typeface="Poppins"/>
              </a:rPr>
              <a:t>Key Insights  </a:t>
            </a:r>
          </a:p>
          <a:p>
            <a:pPr algn="l">
              <a:lnSpc>
                <a:spcPts val="8951"/>
              </a:lnSpc>
            </a:pPr>
            <a:r>
              <a:rPr lang="en-US" sz="4144">
                <a:solidFill>
                  <a:srgbClr val="000000"/>
                </a:solidFill>
                <a:latin typeface="Poppins"/>
                <a:ea typeface="Poppins"/>
                <a:cs typeface="Poppins"/>
                <a:sym typeface="Poppins"/>
              </a:rPr>
              <a:t>Power BI Dashboard  </a:t>
            </a:r>
          </a:p>
          <a:p>
            <a:pPr algn="l">
              <a:lnSpc>
                <a:spcPts val="8951"/>
              </a:lnSpc>
            </a:pPr>
            <a:r>
              <a:rPr lang="en-US" sz="4144">
                <a:solidFill>
                  <a:srgbClr val="000000"/>
                </a:solidFill>
                <a:latin typeface="Poppins"/>
                <a:ea typeface="Poppins"/>
                <a:cs typeface="Poppins"/>
                <a:sym typeface="Poppins"/>
              </a:rPr>
              <a:t>Recommendations  </a:t>
            </a:r>
          </a:p>
        </p:txBody>
      </p:sp>
      <p:sp>
        <p:nvSpPr>
          <p:cNvPr id="10" name="Freeform 10"/>
          <p:cNvSpPr/>
          <p:nvPr/>
        </p:nvSpPr>
        <p:spPr>
          <a:xfrm>
            <a:off x="6229648" y="2038228"/>
            <a:ext cx="4040300" cy="7220072"/>
          </a:xfrm>
          <a:custGeom>
            <a:avLst/>
            <a:gdLst/>
            <a:ahLst/>
            <a:cxnLst/>
            <a:rect l="l" t="t" r="r" b="b"/>
            <a:pathLst>
              <a:path w="4040300" h="7220072">
                <a:moveTo>
                  <a:pt x="0" y="0"/>
                </a:moveTo>
                <a:lnTo>
                  <a:pt x="4040299" y="0"/>
                </a:lnTo>
                <a:lnTo>
                  <a:pt x="4040299" y="7220072"/>
                </a:lnTo>
                <a:lnTo>
                  <a:pt x="0" y="7220072"/>
                </a:lnTo>
                <a:lnTo>
                  <a:pt x="0" y="0"/>
                </a:lnTo>
                <a:close/>
              </a:path>
            </a:pathLst>
          </a:custGeom>
          <a:blipFill>
            <a:blip r:embed="rId2">
              <a:extLst>
                <a:ext uri="{96DAC541-7B7A-43D3-8B79-37D633B846F1}">
                  <asvg:svgBlip xmlns:asvg="http://schemas.microsoft.com/office/drawing/2016/SVG/main" r:embed="rId3"/>
                </a:ext>
              </a:extLst>
            </a:blip>
            <a:stretch>
              <a:fillRect l="-173776"/>
            </a:stretch>
          </a:blipFill>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7F7"/>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21011021" y="3070173"/>
            <a:ext cx="42391962" cy="788601"/>
            <a:chOff x="0" y="0"/>
            <a:chExt cx="11164961" cy="207697"/>
          </a:xfrm>
        </p:grpSpPr>
        <p:sp>
          <p:nvSpPr>
            <p:cNvPr id="3" name="Freeform 3"/>
            <p:cNvSpPr/>
            <p:nvPr/>
          </p:nvSpPr>
          <p:spPr>
            <a:xfrm>
              <a:off x="0" y="0"/>
              <a:ext cx="11164961" cy="207697"/>
            </a:xfrm>
            <a:custGeom>
              <a:avLst/>
              <a:gdLst/>
              <a:ahLst/>
              <a:cxnLst/>
              <a:rect l="l" t="t" r="r" b="b"/>
              <a:pathLst>
                <a:path w="11164961" h="207697">
                  <a:moveTo>
                    <a:pt x="0" y="0"/>
                  </a:moveTo>
                  <a:lnTo>
                    <a:pt x="11164961" y="0"/>
                  </a:lnTo>
                  <a:lnTo>
                    <a:pt x="11164961" y="207697"/>
                  </a:lnTo>
                  <a:lnTo>
                    <a:pt x="0" y="207697"/>
                  </a:lnTo>
                  <a:close/>
                </a:path>
              </a:pathLst>
            </a:custGeom>
            <a:solidFill>
              <a:srgbClr val="FC0328"/>
            </a:solidFill>
          </p:spPr>
          <p:txBody>
            <a:bodyPr/>
            <a:lstStyle/>
            <a:p>
              <a:endParaRPr lang="en-IN"/>
            </a:p>
          </p:txBody>
        </p:sp>
        <p:sp>
          <p:nvSpPr>
            <p:cNvPr id="4" name="TextBox 4"/>
            <p:cNvSpPr txBox="1"/>
            <p:nvPr/>
          </p:nvSpPr>
          <p:spPr>
            <a:xfrm>
              <a:off x="0" y="9525"/>
              <a:ext cx="11164961" cy="198172"/>
            </a:xfrm>
            <a:prstGeom prst="rect">
              <a:avLst/>
            </a:prstGeom>
          </p:spPr>
          <p:txBody>
            <a:bodyPr lIns="50800" tIns="50800" rIns="50800" bIns="50800" rtlCol="0" anchor="ctr"/>
            <a:lstStyle/>
            <a:p>
              <a:pPr algn="ctr">
                <a:lnSpc>
                  <a:spcPts val="2624"/>
                </a:lnSpc>
              </a:pPr>
              <a:endParaRPr/>
            </a:p>
          </p:txBody>
        </p:sp>
      </p:grpSp>
      <p:sp>
        <p:nvSpPr>
          <p:cNvPr id="5" name="Freeform 5"/>
          <p:cNvSpPr/>
          <p:nvPr/>
        </p:nvSpPr>
        <p:spPr>
          <a:xfrm>
            <a:off x="15836670" y="5083795"/>
            <a:ext cx="917881" cy="917881"/>
          </a:xfrm>
          <a:custGeom>
            <a:avLst/>
            <a:gdLst/>
            <a:ahLst/>
            <a:cxnLst/>
            <a:rect l="l" t="t" r="r" b="b"/>
            <a:pathLst>
              <a:path w="917881" h="917881">
                <a:moveTo>
                  <a:pt x="0" y="0"/>
                </a:moveTo>
                <a:lnTo>
                  <a:pt x="917881" y="0"/>
                </a:lnTo>
                <a:lnTo>
                  <a:pt x="917881" y="917881"/>
                </a:lnTo>
                <a:lnTo>
                  <a:pt x="0" y="9178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16316289" y="-110722"/>
            <a:ext cx="2978563" cy="1634486"/>
          </a:xfrm>
          <a:custGeom>
            <a:avLst/>
            <a:gdLst/>
            <a:ahLst/>
            <a:cxnLst/>
            <a:rect l="l" t="t" r="r" b="b"/>
            <a:pathLst>
              <a:path w="2978563" h="1634486">
                <a:moveTo>
                  <a:pt x="0" y="0"/>
                </a:moveTo>
                <a:lnTo>
                  <a:pt x="2978563" y="0"/>
                </a:lnTo>
                <a:lnTo>
                  <a:pt x="2978563" y="1634487"/>
                </a:lnTo>
                <a:lnTo>
                  <a:pt x="0" y="16344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7" name="Freeform 7"/>
          <p:cNvSpPr/>
          <p:nvPr/>
        </p:nvSpPr>
        <p:spPr>
          <a:xfrm>
            <a:off x="799126" y="431040"/>
            <a:ext cx="2119363" cy="1195320"/>
          </a:xfrm>
          <a:custGeom>
            <a:avLst/>
            <a:gdLst/>
            <a:ahLst/>
            <a:cxnLst/>
            <a:rect l="l" t="t" r="r" b="b"/>
            <a:pathLst>
              <a:path w="2119363" h="1195320">
                <a:moveTo>
                  <a:pt x="0" y="0"/>
                </a:moveTo>
                <a:lnTo>
                  <a:pt x="2119362" y="0"/>
                </a:lnTo>
                <a:lnTo>
                  <a:pt x="2119362" y="1195320"/>
                </a:lnTo>
                <a:lnTo>
                  <a:pt x="0" y="1195320"/>
                </a:lnTo>
                <a:lnTo>
                  <a:pt x="0" y="0"/>
                </a:lnTo>
                <a:close/>
              </a:path>
            </a:pathLst>
          </a:custGeom>
          <a:blipFill>
            <a:blip r:embed="rId6"/>
            <a:stretch>
              <a:fillRect/>
            </a:stretch>
          </a:blipFill>
        </p:spPr>
        <p:txBody>
          <a:bodyPr/>
          <a:lstStyle/>
          <a:p>
            <a:endParaRPr lang="en-IN"/>
          </a:p>
        </p:txBody>
      </p:sp>
      <p:sp>
        <p:nvSpPr>
          <p:cNvPr id="8" name="TextBox 8"/>
          <p:cNvSpPr txBox="1"/>
          <p:nvPr/>
        </p:nvSpPr>
        <p:spPr>
          <a:xfrm>
            <a:off x="3457549" y="577369"/>
            <a:ext cx="10605692" cy="774286"/>
          </a:xfrm>
          <a:prstGeom prst="rect">
            <a:avLst/>
          </a:prstGeom>
        </p:spPr>
        <p:txBody>
          <a:bodyPr lIns="0" tIns="0" rIns="0" bIns="0" rtlCol="0" anchor="t">
            <a:spAutoFit/>
          </a:bodyPr>
          <a:lstStyle/>
          <a:p>
            <a:pPr algn="l">
              <a:lnSpc>
                <a:spcPts val="5520"/>
              </a:lnSpc>
            </a:pPr>
            <a:r>
              <a:rPr lang="en-US" sz="5308" b="1">
                <a:solidFill>
                  <a:srgbClr val="FC0328"/>
                </a:solidFill>
                <a:latin typeface="Poppins Bold"/>
                <a:ea typeface="Poppins Bold"/>
                <a:cs typeface="Poppins Bold"/>
                <a:sym typeface="Poppins Bold"/>
              </a:rPr>
              <a:t>Let’s Understand Ecommerce </a:t>
            </a:r>
          </a:p>
        </p:txBody>
      </p:sp>
      <p:sp>
        <p:nvSpPr>
          <p:cNvPr id="9" name="TextBox 9"/>
          <p:cNvSpPr txBox="1"/>
          <p:nvPr/>
        </p:nvSpPr>
        <p:spPr>
          <a:xfrm>
            <a:off x="1028700" y="2402261"/>
            <a:ext cx="4953687" cy="551698"/>
          </a:xfrm>
          <a:prstGeom prst="rect">
            <a:avLst/>
          </a:prstGeom>
        </p:spPr>
        <p:txBody>
          <a:bodyPr lIns="0" tIns="0" rIns="0" bIns="0" rtlCol="0" anchor="t">
            <a:spAutoFit/>
          </a:bodyPr>
          <a:lstStyle/>
          <a:p>
            <a:pPr algn="l">
              <a:lnSpc>
                <a:spcPts val="3861"/>
              </a:lnSpc>
            </a:pPr>
            <a:r>
              <a:rPr lang="en-US" sz="3712">
                <a:solidFill>
                  <a:srgbClr val="FC0328"/>
                </a:solidFill>
                <a:latin typeface="Poppins"/>
                <a:ea typeface="Poppins"/>
                <a:cs typeface="Poppins"/>
                <a:sym typeface="Poppins"/>
              </a:rPr>
              <a:t>Ecommerce</a:t>
            </a:r>
          </a:p>
        </p:txBody>
      </p:sp>
      <p:sp>
        <p:nvSpPr>
          <p:cNvPr id="10" name="TextBox 10"/>
          <p:cNvSpPr txBox="1"/>
          <p:nvPr/>
        </p:nvSpPr>
        <p:spPr>
          <a:xfrm>
            <a:off x="1263684" y="3043796"/>
            <a:ext cx="13783044" cy="1599544"/>
          </a:xfrm>
          <a:prstGeom prst="rect">
            <a:avLst/>
          </a:prstGeom>
        </p:spPr>
        <p:txBody>
          <a:bodyPr lIns="0" tIns="0" rIns="0" bIns="0" rtlCol="0" anchor="t">
            <a:spAutoFit/>
          </a:bodyPr>
          <a:lstStyle/>
          <a:p>
            <a:pPr marL="540473" lvl="1" indent="-270237" algn="just">
              <a:lnSpc>
                <a:spcPts val="3129"/>
              </a:lnSpc>
              <a:buFont typeface="Arial"/>
              <a:buChar char="•"/>
            </a:pPr>
            <a:r>
              <a:rPr lang="en-US" sz="2503" spc="135">
                <a:solidFill>
                  <a:srgbClr val="0F0E0E"/>
                </a:solidFill>
                <a:latin typeface="Poppins"/>
                <a:ea typeface="Poppins"/>
                <a:cs typeface="Poppins"/>
                <a:sym typeface="Poppins"/>
              </a:rPr>
              <a:t>E-commerce means buying/selling online</a:t>
            </a:r>
          </a:p>
          <a:p>
            <a:pPr marL="540473" lvl="1" indent="-270237" algn="just">
              <a:lnSpc>
                <a:spcPts val="3129"/>
              </a:lnSpc>
              <a:buFont typeface="Arial"/>
              <a:buChar char="•"/>
            </a:pPr>
            <a:r>
              <a:rPr lang="en-US" sz="2503" spc="135">
                <a:solidFill>
                  <a:srgbClr val="0F0E0E"/>
                </a:solidFill>
                <a:latin typeface="Poppins"/>
                <a:ea typeface="Poppins"/>
                <a:cs typeface="Poppins"/>
                <a:sym typeface="Poppins"/>
              </a:rPr>
              <a:t>It's shopping or selling products through websites or apps instead of physical stores.</a:t>
            </a:r>
          </a:p>
          <a:p>
            <a:pPr algn="just">
              <a:lnSpc>
                <a:spcPts val="3129"/>
              </a:lnSpc>
            </a:pPr>
            <a:endParaRPr lang="en-US" sz="2503" spc="135">
              <a:solidFill>
                <a:srgbClr val="0F0E0E"/>
              </a:solidFill>
              <a:latin typeface="Poppins"/>
              <a:ea typeface="Poppins"/>
              <a:cs typeface="Poppins"/>
              <a:sym typeface="Poppins"/>
            </a:endParaRPr>
          </a:p>
        </p:txBody>
      </p:sp>
      <p:sp>
        <p:nvSpPr>
          <p:cNvPr id="11" name="TextBox 11"/>
          <p:cNvSpPr txBox="1"/>
          <p:nvPr/>
        </p:nvSpPr>
        <p:spPr>
          <a:xfrm>
            <a:off x="1028700" y="4591802"/>
            <a:ext cx="4953687" cy="551698"/>
          </a:xfrm>
          <a:prstGeom prst="rect">
            <a:avLst/>
          </a:prstGeom>
        </p:spPr>
        <p:txBody>
          <a:bodyPr lIns="0" tIns="0" rIns="0" bIns="0" rtlCol="0" anchor="t">
            <a:spAutoFit/>
          </a:bodyPr>
          <a:lstStyle/>
          <a:p>
            <a:pPr algn="l">
              <a:lnSpc>
                <a:spcPts val="3861"/>
              </a:lnSpc>
            </a:pPr>
            <a:r>
              <a:rPr lang="en-US" sz="3712">
                <a:solidFill>
                  <a:srgbClr val="FC0328"/>
                </a:solidFill>
                <a:latin typeface="Poppins"/>
                <a:ea typeface="Poppins"/>
                <a:cs typeface="Poppins"/>
                <a:sym typeface="Poppins"/>
              </a:rPr>
              <a:t>What it uses?</a:t>
            </a:r>
          </a:p>
        </p:txBody>
      </p:sp>
      <p:sp>
        <p:nvSpPr>
          <p:cNvPr id="12" name="TextBox 12"/>
          <p:cNvSpPr txBox="1"/>
          <p:nvPr/>
        </p:nvSpPr>
        <p:spPr>
          <a:xfrm>
            <a:off x="1263684" y="5045695"/>
            <a:ext cx="13783044" cy="1201399"/>
          </a:xfrm>
          <a:prstGeom prst="rect">
            <a:avLst/>
          </a:prstGeom>
        </p:spPr>
        <p:txBody>
          <a:bodyPr lIns="0" tIns="0" rIns="0" bIns="0" rtlCol="0" anchor="t">
            <a:spAutoFit/>
          </a:bodyPr>
          <a:lstStyle/>
          <a:p>
            <a:pPr marL="540473" lvl="1" indent="-270237" algn="just">
              <a:lnSpc>
                <a:spcPts val="3129"/>
              </a:lnSpc>
              <a:buFont typeface="Arial"/>
              <a:buChar char="•"/>
            </a:pPr>
            <a:r>
              <a:rPr lang="en-US" sz="2503" spc="135">
                <a:solidFill>
                  <a:srgbClr val="0F0E0E"/>
                </a:solidFill>
                <a:latin typeface="Poppins"/>
                <a:ea typeface="Poppins"/>
                <a:cs typeface="Poppins"/>
                <a:sym typeface="Poppins"/>
              </a:rPr>
              <a:t>It uses digital tools to work smoothly Like mobile payments, instant transactions, automatic stock tracking, and barcode scanners.</a:t>
            </a:r>
          </a:p>
          <a:p>
            <a:pPr algn="just">
              <a:lnSpc>
                <a:spcPts val="3129"/>
              </a:lnSpc>
            </a:pPr>
            <a:endParaRPr lang="en-US" sz="2503" spc="135">
              <a:solidFill>
                <a:srgbClr val="0F0E0E"/>
              </a:solidFill>
              <a:latin typeface="Poppins"/>
              <a:ea typeface="Poppins"/>
              <a:cs typeface="Poppins"/>
              <a:sym typeface="Poppins"/>
            </a:endParaRPr>
          </a:p>
        </p:txBody>
      </p:sp>
      <p:sp>
        <p:nvSpPr>
          <p:cNvPr id="13" name="TextBox 13"/>
          <p:cNvSpPr txBox="1"/>
          <p:nvPr/>
        </p:nvSpPr>
        <p:spPr>
          <a:xfrm>
            <a:off x="1028700" y="6380444"/>
            <a:ext cx="6051846" cy="551698"/>
          </a:xfrm>
          <a:prstGeom prst="rect">
            <a:avLst/>
          </a:prstGeom>
        </p:spPr>
        <p:txBody>
          <a:bodyPr lIns="0" tIns="0" rIns="0" bIns="0" rtlCol="0" anchor="t">
            <a:spAutoFit/>
          </a:bodyPr>
          <a:lstStyle/>
          <a:p>
            <a:pPr algn="l">
              <a:lnSpc>
                <a:spcPts val="3861"/>
              </a:lnSpc>
            </a:pPr>
            <a:r>
              <a:rPr lang="en-US" sz="3712">
                <a:solidFill>
                  <a:srgbClr val="FC0328"/>
                </a:solidFill>
                <a:latin typeface="Poppins"/>
                <a:ea typeface="Poppins"/>
                <a:cs typeface="Poppins"/>
                <a:sym typeface="Poppins"/>
              </a:rPr>
              <a:t>Different from E-business</a:t>
            </a:r>
          </a:p>
        </p:txBody>
      </p:sp>
      <p:sp>
        <p:nvSpPr>
          <p:cNvPr id="14" name="TextBox 14"/>
          <p:cNvSpPr txBox="1"/>
          <p:nvPr/>
        </p:nvSpPr>
        <p:spPr>
          <a:xfrm>
            <a:off x="1440488" y="7017866"/>
            <a:ext cx="13783044" cy="1990069"/>
          </a:xfrm>
          <a:prstGeom prst="rect">
            <a:avLst/>
          </a:prstGeom>
        </p:spPr>
        <p:txBody>
          <a:bodyPr lIns="0" tIns="0" rIns="0" bIns="0" rtlCol="0" anchor="t">
            <a:spAutoFit/>
          </a:bodyPr>
          <a:lstStyle/>
          <a:p>
            <a:pPr marL="540473" lvl="1" indent="-270237" algn="just">
              <a:lnSpc>
                <a:spcPts val="3129"/>
              </a:lnSpc>
              <a:buFont typeface="Arial"/>
              <a:buChar char="•"/>
            </a:pPr>
            <a:r>
              <a:rPr lang="en-US" sz="2503" spc="135">
                <a:solidFill>
                  <a:srgbClr val="0F0E0E"/>
                </a:solidFill>
                <a:latin typeface="Poppins"/>
                <a:ea typeface="Poppins"/>
                <a:cs typeface="Poppins"/>
                <a:sym typeface="Poppins"/>
              </a:rPr>
              <a:t>E-commerce = just transactions of goods &amp; services (like Target or Amazon purchases).</a:t>
            </a:r>
          </a:p>
          <a:p>
            <a:pPr marL="540473" lvl="1" indent="-270237" algn="just">
              <a:lnSpc>
                <a:spcPts val="3129"/>
              </a:lnSpc>
              <a:buFont typeface="Arial"/>
              <a:buChar char="•"/>
            </a:pPr>
            <a:r>
              <a:rPr lang="en-US" sz="2503" spc="135">
                <a:solidFill>
                  <a:srgbClr val="0F0E0E"/>
                </a:solidFill>
                <a:latin typeface="Poppins"/>
                <a:ea typeface="Poppins"/>
                <a:cs typeface="Poppins"/>
                <a:sym typeface="Poppins"/>
              </a:rPr>
              <a:t>E-business = everything about running an online company (including marketing, websites, etc.)</a:t>
            </a:r>
          </a:p>
          <a:p>
            <a:pPr algn="just">
              <a:lnSpc>
                <a:spcPts val="3129"/>
              </a:lnSpc>
            </a:pPr>
            <a:endParaRPr lang="en-US" sz="2503" spc="135">
              <a:solidFill>
                <a:srgbClr val="0F0E0E"/>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7F7"/>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21011021" y="3070173"/>
            <a:ext cx="42391962" cy="788601"/>
            <a:chOff x="0" y="0"/>
            <a:chExt cx="11164961" cy="207697"/>
          </a:xfrm>
        </p:grpSpPr>
        <p:sp>
          <p:nvSpPr>
            <p:cNvPr id="3" name="Freeform 3"/>
            <p:cNvSpPr/>
            <p:nvPr/>
          </p:nvSpPr>
          <p:spPr>
            <a:xfrm>
              <a:off x="0" y="0"/>
              <a:ext cx="11164961" cy="207697"/>
            </a:xfrm>
            <a:custGeom>
              <a:avLst/>
              <a:gdLst/>
              <a:ahLst/>
              <a:cxnLst/>
              <a:rect l="l" t="t" r="r" b="b"/>
              <a:pathLst>
                <a:path w="11164961" h="207697">
                  <a:moveTo>
                    <a:pt x="0" y="0"/>
                  </a:moveTo>
                  <a:lnTo>
                    <a:pt x="11164961" y="0"/>
                  </a:lnTo>
                  <a:lnTo>
                    <a:pt x="11164961" y="207697"/>
                  </a:lnTo>
                  <a:lnTo>
                    <a:pt x="0" y="207697"/>
                  </a:lnTo>
                  <a:close/>
                </a:path>
              </a:pathLst>
            </a:custGeom>
            <a:solidFill>
              <a:srgbClr val="FC0328"/>
            </a:solidFill>
          </p:spPr>
          <p:txBody>
            <a:bodyPr/>
            <a:lstStyle/>
            <a:p>
              <a:endParaRPr lang="en-IN"/>
            </a:p>
          </p:txBody>
        </p:sp>
        <p:sp>
          <p:nvSpPr>
            <p:cNvPr id="4" name="TextBox 4"/>
            <p:cNvSpPr txBox="1"/>
            <p:nvPr/>
          </p:nvSpPr>
          <p:spPr>
            <a:xfrm>
              <a:off x="0" y="9525"/>
              <a:ext cx="11164961" cy="198172"/>
            </a:xfrm>
            <a:prstGeom prst="rect">
              <a:avLst/>
            </a:prstGeom>
          </p:spPr>
          <p:txBody>
            <a:bodyPr lIns="50800" tIns="50800" rIns="50800" bIns="50800" rtlCol="0" anchor="ctr"/>
            <a:lstStyle/>
            <a:p>
              <a:pPr algn="ctr">
                <a:lnSpc>
                  <a:spcPts val="2624"/>
                </a:lnSpc>
              </a:pPr>
              <a:endParaRPr/>
            </a:p>
          </p:txBody>
        </p:sp>
      </p:grpSp>
      <p:sp>
        <p:nvSpPr>
          <p:cNvPr id="5" name="Freeform 5"/>
          <p:cNvSpPr/>
          <p:nvPr/>
        </p:nvSpPr>
        <p:spPr>
          <a:xfrm>
            <a:off x="15836670" y="5083795"/>
            <a:ext cx="917881" cy="917881"/>
          </a:xfrm>
          <a:custGeom>
            <a:avLst/>
            <a:gdLst/>
            <a:ahLst/>
            <a:cxnLst/>
            <a:rect l="l" t="t" r="r" b="b"/>
            <a:pathLst>
              <a:path w="917881" h="917881">
                <a:moveTo>
                  <a:pt x="0" y="0"/>
                </a:moveTo>
                <a:lnTo>
                  <a:pt x="917881" y="0"/>
                </a:lnTo>
                <a:lnTo>
                  <a:pt x="917881" y="917881"/>
                </a:lnTo>
                <a:lnTo>
                  <a:pt x="0" y="9178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16316289" y="-110722"/>
            <a:ext cx="2978563" cy="1634486"/>
          </a:xfrm>
          <a:custGeom>
            <a:avLst/>
            <a:gdLst/>
            <a:ahLst/>
            <a:cxnLst/>
            <a:rect l="l" t="t" r="r" b="b"/>
            <a:pathLst>
              <a:path w="2978563" h="1634486">
                <a:moveTo>
                  <a:pt x="0" y="0"/>
                </a:moveTo>
                <a:lnTo>
                  <a:pt x="2978563" y="0"/>
                </a:lnTo>
                <a:lnTo>
                  <a:pt x="2978563" y="1634487"/>
                </a:lnTo>
                <a:lnTo>
                  <a:pt x="0" y="16344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7" name="Freeform 7"/>
          <p:cNvSpPr/>
          <p:nvPr/>
        </p:nvSpPr>
        <p:spPr>
          <a:xfrm>
            <a:off x="799126" y="431040"/>
            <a:ext cx="2119363" cy="1195320"/>
          </a:xfrm>
          <a:custGeom>
            <a:avLst/>
            <a:gdLst/>
            <a:ahLst/>
            <a:cxnLst/>
            <a:rect l="l" t="t" r="r" b="b"/>
            <a:pathLst>
              <a:path w="2119363" h="1195320">
                <a:moveTo>
                  <a:pt x="0" y="0"/>
                </a:moveTo>
                <a:lnTo>
                  <a:pt x="2119362" y="0"/>
                </a:lnTo>
                <a:lnTo>
                  <a:pt x="2119362" y="1195320"/>
                </a:lnTo>
                <a:lnTo>
                  <a:pt x="0" y="1195320"/>
                </a:lnTo>
                <a:lnTo>
                  <a:pt x="0" y="0"/>
                </a:lnTo>
                <a:close/>
              </a:path>
            </a:pathLst>
          </a:custGeom>
          <a:blipFill>
            <a:blip r:embed="rId6"/>
            <a:stretch>
              <a:fillRect/>
            </a:stretch>
          </a:blipFill>
        </p:spPr>
        <p:txBody>
          <a:bodyPr/>
          <a:lstStyle/>
          <a:p>
            <a:endParaRPr lang="en-IN"/>
          </a:p>
        </p:txBody>
      </p:sp>
      <p:sp>
        <p:nvSpPr>
          <p:cNvPr id="8" name="TextBox 8"/>
          <p:cNvSpPr txBox="1"/>
          <p:nvPr/>
        </p:nvSpPr>
        <p:spPr>
          <a:xfrm>
            <a:off x="3457549" y="586894"/>
            <a:ext cx="10174605" cy="699488"/>
          </a:xfrm>
          <a:prstGeom prst="rect">
            <a:avLst/>
          </a:prstGeom>
        </p:spPr>
        <p:txBody>
          <a:bodyPr lIns="0" tIns="0" rIns="0" bIns="0" rtlCol="0" anchor="t">
            <a:spAutoFit/>
          </a:bodyPr>
          <a:lstStyle/>
          <a:p>
            <a:pPr algn="l">
              <a:lnSpc>
                <a:spcPts val="5088"/>
              </a:lnSpc>
            </a:pPr>
            <a:r>
              <a:rPr lang="en-US" sz="4892" b="1">
                <a:solidFill>
                  <a:srgbClr val="FC0328"/>
                </a:solidFill>
                <a:latin typeface="Poppins Bold"/>
                <a:ea typeface="Poppins Bold"/>
                <a:cs typeface="Poppins Bold"/>
                <a:sym typeface="Poppins Bold"/>
              </a:rPr>
              <a:t>Target’s Ecommerce </a:t>
            </a:r>
          </a:p>
        </p:txBody>
      </p:sp>
      <p:sp>
        <p:nvSpPr>
          <p:cNvPr id="9" name="TextBox 9"/>
          <p:cNvSpPr txBox="1"/>
          <p:nvPr/>
        </p:nvSpPr>
        <p:spPr>
          <a:xfrm>
            <a:off x="1028700" y="2402261"/>
            <a:ext cx="7906513" cy="551698"/>
          </a:xfrm>
          <a:prstGeom prst="rect">
            <a:avLst/>
          </a:prstGeom>
        </p:spPr>
        <p:txBody>
          <a:bodyPr lIns="0" tIns="0" rIns="0" bIns="0" rtlCol="0" anchor="t">
            <a:spAutoFit/>
          </a:bodyPr>
          <a:lstStyle/>
          <a:p>
            <a:pPr algn="l">
              <a:lnSpc>
                <a:spcPts val="3861"/>
              </a:lnSpc>
            </a:pPr>
            <a:r>
              <a:rPr lang="en-US" sz="3712">
                <a:solidFill>
                  <a:srgbClr val="FC0328"/>
                </a:solidFill>
                <a:latin typeface="Poppins"/>
                <a:ea typeface="Poppins"/>
                <a:cs typeface="Poppins"/>
                <a:sym typeface="Poppins"/>
              </a:rPr>
              <a:t>Target Ecommerce Company</a:t>
            </a:r>
          </a:p>
        </p:txBody>
      </p:sp>
      <p:sp>
        <p:nvSpPr>
          <p:cNvPr id="10" name="TextBox 10"/>
          <p:cNvSpPr txBox="1"/>
          <p:nvPr/>
        </p:nvSpPr>
        <p:spPr>
          <a:xfrm>
            <a:off x="1263684" y="3043796"/>
            <a:ext cx="13783044" cy="1584304"/>
          </a:xfrm>
          <a:prstGeom prst="rect">
            <a:avLst/>
          </a:prstGeom>
        </p:spPr>
        <p:txBody>
          <a:bodyPr lIns="0" tIns="0" rIns="0" bIns="0" rtlCol="0" anchor="t">
            <a:spAutoFit/>
          </a:bodyPr>
          <a:lstStyle/>
          <a:p>
            <a:pPr algn="just">
              <a:lnSpc>
                <a:spcPts val="3129"/>
              </a:lnSpc>
            </a:pPr>
            <a:r>
              <a:rPr lang="en-US" sz="2503" spc="135">
                <a:solidFill>
                  <a:srgbClr val="0F0E0E"/>
                </a:solidFill>
                <a:latin typeface="Poppins"/>
                <a:ea typeface="Poppins"/>
                <a:cs typeface="Poppins"/>
                <a:sym typeface="Poppins"/>
              </a:rPr>
              <a:t>Target is a globally recognized brand and a leading retailer in the United States, known for offering exceptional value, inspiration, innovation, and a unique shopping experience.</a:t>
            </a:r>
          </a:p>
          <a:p>
            <a:pPr algn="just">
              <a:lnSpc>
                <a:spcPts val="3129"/>
              </a:lnSpc>
            </a:pPr>
            <a:endParaRPr lang="en-US" sz="2503" spc="135">
              <a:solidFill>
                <a:srgbClr val="0F0E0E"/>
              </a:solidFill>
              <a:latin typeface="Poppins"/>
              <a:ea typeface="Poppins"/>
              <a:cs typeface="Poppins"/>
              <a:sym typeface="Poppins"/>
            </a:endParaRPr>
          </a:p>
        </p:txBody>
      </p:sp>
      <p:sp>
        <p:nvSpPr>
          <p:cNvPr id="11" name="TextBox 11"/>
          <p:cNvSpPr txBox="1"/>
          <p:nvPr/>
        </p:nvSpPr>
        <p:spPr>
          <a:xfrm>
            <a:off x="1028700" y="4812709"/>
            <a:ext cx="4953687" cy="551698"/>
          </a:xfrm>
          <a:prstGeom prst="rect">
            <a:avLst/>
          </a:prstGeom>
        </p:spPr>
        <p:txBody>
          <a:bodyPr lIns="0" tIns="0" rIns="0" bIns="0" rtlCol="0" anchor="t">
            <a:spAutoFit/>
          </a:bodyPr>
          <a:lstStyle/>
          <a:p>
            <a:pPr algn="l">
              <a:lnSpc>
                <a:spcPts val="3861"/>
              </a:lnSpc>
            </a:pPr>
            <a:r>
              <a:rPr lang="en-US" sz="3712">
                <a:solidFill>
                  <a:srgbClr val="FC0328"/>
                </a:solidFill>
                <a:latin typeface="Poppins"/>
                <a:ea typeface="Poppins"/>
                <a:cs typeface="Poppins"/>
                <a:sym typeface="Poppins"/>
              </a:rPr>
              <a:t>What we do here?</a:t>
            </a:r>
          </a:p>
        </p:txBody>
      </p:sp>
      <p:sp>
        <p:nvSpPr>
          <p:cNvPr id="12" name="TextBox 12"/>
          <p:cNvSpPr txBox="1"/>
          <p:nvPr/>
        </p:nvSpPr>
        <p:spPr>
          <a:xfrm>
            <a:off x="1263684" y="5504636"/>
            <a:ext cx="13783044" cy="1974829"/>
          </a:xfrm>
          <a:prstGeom prst="rect">
            <a:avLst/>
          </a:prstGeom>
        </p:spPr>
        <p:txBody>
          <a:bodyPr lIns="0" tIns="0" rIns="0" bIns="0" rtlCol="0" anchor="t">
            <a:spAutoFit/>
          </a:bodyPr>
          <a:lstStyle/>
          <a:p>
            <a:pPr algn="just">
              <a:lnSpc>
                <a:spcPts val="3129"/>
              </a:lnSpc>
            </a:pPr>
            <a:r>
              <a:rPr lang="en-US" sz="2503" spc="135">
                <a:solidFill>
                  <a:srgbClr val="0F0E0E"/>
                </a:solidFill>
                <a:latin typeface="Poppins"/>
                <a:ea typeface="Poppins"/>
                <a:cs typeface="Poppins"/>
                <a:sym typeface="Poppins"/>
              </a:rPr>
              <a:t>We will analyse the dataset that focuses on Target's operations in Brazil, covering 100,000 orders placed between 2016 and 2018. It includes detailed information on order status, pricing, payment and shipping performance, customer locations, product attributes, and customer reviews.</a:t>
            </a:r>
          </a:p>
          <a:p>
            <a:pPr algn="just">
              <a:lnSpc>
                <a:spcPts val="3129"/>
              </a:lnSpc>
            </a:pPr>
            <a:endParaRPr lang="en-US" sz="2503" spc="135">
              <a:solidFill>
                <a:srgbClr val="0F0E0E"/>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7F7"/>
        </a:solidFill>
        <a:effectLst/>
      </p:bgPr>
    </p:bg>
    <p:spTree>
      <p:nvGrpSpPr>
        <p:cNvPr id="1" name=""/>
        <p:cNvGrpSpPr/>
        <p:nvPr/>
      </p:nvGrpSpPr>
      <p:grpSpPr>
        <a:xfrm>
          <a:off x="0" y="0"/>
          <a:ext cx="0" cy="0"/>
          <a:chOff x="0" y="0"/>
          <a:chExt cx="0" cy="0"/>
        </a:xfrm>
      </p:grpSpPr>
      <p:sp>
        <p:nvSpPr>
          <p:cNvPr id="2" name="Freeform 2"/>
          <p:cNvSpPr/>
          <p:nvPr/>
        </p:nvSpPr>
        <p:spPr>
          <a:xfrm>
            <a:off x="-1348531" y="9469757"/>
            <a:ext cx="2978563" cy="1634486"/>
          </a:xfrm>
          <a:custGeom>
            <a:avLst/>
            <a:gdLst/>
            <a:ahLst/>
            <a:cxnLst/>
            <a:rect l="l" t="t" r="r" b="b"/>
            <a:pathLst>
              <a:path w="2978563" h="1634486">
                <a:moveTo>
                  <a:pt x="0" y="0"/>
                </a:moveTo>
                <a:lnTo>
                  <a:pt x="2978562" y="0"/>
                </a:lnTo>
                <a:lnTo>
                  <a:pt x="2978562" y="1634486"/>
                </a:lnTo>
                <a:lnTo>
                  <a:pt x="0" y="16344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 name="Group 3"/>
          <p:cNvGrpSpPr/>
          <p:nvPr/>
        </p:nvGrpSpPr>
        <p:grpSpPr>
          <a:xfrm>
            <a:off x="17542194" y="-86345"/>
            <a:ext cx="22894267" cy="10620241"/>
            <a:chOff x="0" y="0"/>
            <a:chExt cx="6029766" cy="2797100"/>
          </a:xfrm>
        </p:grpSpPr>
        <p:sp>
          <p:nvSpPr>
            <p:cNvPr id="4" name="Freeform 4"/>
            <p:cNvSpPr/>
            <p:nvPr/>
          </p:nvSpPr>
          <p:spPr>
            <a:xfrm>
              <a:off x="0" y="0"/>
              <a:ext cx="6029766" cy="2797101"/>
            </a:xfrm>
            <a:custGeom>
              <a:avLst/>
              <a:gdLst/>
              <a:ahLst/>
              <a:cxnLst/>
              <a:rect l="l" t="t" r="r" b="b"/>
              <a:pathLst>
                <a:path w="6029766" h="2797101">
                  <a:moveTo>
                    <a:pt x="0" y="0"/>
                  </a:moveTo>
                  <a:lnTo>
                    <a:pt x="6029766" y="0"/>
                  </a:lnTo>
                  <a:lnTo>
                    <a:pt x="6029766" y="2797101"/>
                  </a:lnTo>
                  <a:lnTo>
                    <a:pt x="0" y="2797101"/>
                  </a:lnTo>
                  <a:close/>
                </a:path>
              </a:pathLst>
            </a:custGeom>
            <a:solidFill>
              <a:srgbClr val="FC0328"/>
            </a:solidFill>
          </p:spPr>
          <p:txBody>
            <a:bodyPr/>
            <a:lstStyle/>
            <a:p>
              <a:endParaRPr lang="en-IN"/>
            </a:p>
          </p:txBody>
        </p:sp>
        <p:sp>
          <p:nvSpPr>
            <p:cNvPr id="5" name="TextBox 5"/>
            <p:cNvSpPr txBox="1"/>
            <p:nvPr/>
          </p:nvSpPr>
          <p:spPr>
            <a:xfrm>
              <a:off x="0" y="9525"/>
              <a:ext cx="6029766" cy="2787575"/>
            </a:xfrm>
            <a:prstGeom prst="rect">
              <a:avLst/>
            </a:prstGeom>
          </p:spPr>
          <p:txBody>
            <a:bodyPr lIns="50800" tIns="50800" rIns="50800" bIns="50800" rtlCol="0" anchor="ctr"/>
            <a:lstStyle/>
            <a:p>
              <a:pPr algn="ctr">
                <a:lnSpc>
                  <a:spcPts val="2624"/>
                </a:lnSpc>
              </a:pPr>
              <a:endParaRPr/>
            </a:p>
          </p:txBody>
        </p:sp>
      </p:grpSp>
      <p:sp>
        <p:nvSpPr>
          <p:cNvPr id="6" name="TextBox 6"/>
          <p:cNvSpPr txBox="1"/>
          <p:nvPr/>
        </p:nvSpPr>
        <p:spPr>
          <a:xfrm>
            <a:off x="1312491" y="1892053"/>
            <a:ext cx="9271675" cy="1039466"/>
          </a:xfrm>
          <a:prstGeom prst="rect">
            <a:avLst/>
          </a:prstGeom>
        </p:spPr>
        <p:txBody>
          <a:bodyPr lIns="0" tIns="0" rIns="0" bIns="0" rtlCol="0" anchor="t">
            <a:spAutoFit/>
          </a:bodyPr>
          <a:lstStyle/>
          <a:p>
            <a:pPr algn="l">
              <a:lnSpc>
                <a:spcPts val="7376"/>
              </a:lnSpc>
            </a:pPr>
            <a:r>
              <a:rPr lang="en-US" sz="7092" b="1">
                <a:solidFill>
                  <a:srgbClr val="FC0328"/>
                </a:solidFill>
                <a:latin typeface="Poppins Bold"/>
                <a:ea typeface="Poppins Bold"/>
                <a:cs typeface="Poppins Bold"/>
                <a:sym typeface="Poppins Bold"/>
              </a:rPr>
              <a:t>Project Overview</a:t>
            </a:r>
          </a:p>
        </p:txBody>
      </p:sp>
      <p:sp>
        <p:nvSpPr>
          <p:cNvPr id="7" name="TextBox 7"/>
          <p:cNvSpPr txBox="1"/>
          <p:nvPr/>
        </p:nvSpPr>
        <p:spPr>
          <a:xfrm>
            <a:off x="1312491" y="6739794"/>
            <a:ext cx="4953687" cy="551698"/>
          </a:xfrm>
          <a:prstGeom prst="rect">
            <a:avLst/>
          </a:prstGeom>
        </p:spPr>
        <p:txBody>
          <a:bodyPr lIns="0" tIns="0" rIns="0" bIns="0" rtlCol="0" anchor="t">
            <a:spAutoFit/>
          </a:bodyPr>
          <a:lstStyle/>
          <a:p>
            <a:pPr algn="l">
              <a:lnSpc>
                <a:spcPts val="3861"/>
              </a:lnSpc>
            </a:pPr>
            <a:r>
              <a:rPr lang="en-US" sz="3712">
                <a:solidFill>
                  <a:srgbClr val="FC0328"/>
                </a:solidFill>
                <a:latin typeface="Poppins"/>
                <a:ea typeface="Poppins"/>
                <a:cs typeface="Poppins"/>
                <a:sym typeface="Poppins"/>
              </a:rPr>
              <a:t>Solution</a:t>
            </a:r>
          </a:p>
        </p:txBody>
      </p:sp>
      <p:sp>
        <p:nvSpPr>
          <p:cNvPr id="8" name="Freeform 8"/>
          <p:cNvSpPr/>
          <p:nvPr/>
        </p:nvSpPr>
        <p:spPr>
          <a:xfrm>
            <a:off x="799126" y="431040"/>
            <a:ext cx="2119363" cy="1195320"/>
          </a:xfrm>
          <a:custGeom>
            <a:avLst/>
            <a:gdLst/>
            <a:ahLst/>
            <a:cxnLst/>
            <a:rect l="l" t="t" r="r" b="b"/>
            <a:pathLst>
              <a:path w="2119363" h="1195320">
                <a:moveTo>
                  <a:pt x="0" y="0"/>
                </a:moveTo>
                <a:lnTo>
                  <a:pt x="2119362" y="0"/>
                </a:lnTo>
                <a:lnTo>
                  <a:pt x="2119362" y="1195320"/>
                </a:lnTo>
                <a:lnTo>
                  <a:pt x="0" y="1195320"/>
                </a:lnTo>
                <a:lnTo>
                  <a:pt x="0" y="0"/>
                </a:lnTo>
                <a:close/>
              </a:path>
            </a:pathLst>
          </a:custGeom>
          <a:blipFill>
            <a:blip r:embed="rId4"/>
            <a:stretch>
              <a:fillRect/>
            </a:stretch>
          </a:blipFill>
        </p:spPr>
        <p:txBody>
          <a:bodyPr/>
          <a:lstStyle/>
          <a:p>
            <a:endParaRPr lang="en-IN"/>
          </a:p>
        </p:txBody>
      </p:sp>
      <p:sp>
        <p:nvSpPr>
          <p:cNvPr id="9" name="TextBox 9"/>
          <p:cNvSpPr txBox="1"/>
          <p:nvPr/>
        </p:nvSpPr>
        <p:spPr>
          <a:xfrm>
            <a:off x="1388691" y="3682235"/>
            <a:ext cx="12413522" cy="803254"/>
          </a:xfrm>
          <a:prstGeom prst="rect">
            <a:avLst/>
          </a:prstGeom>
        </p:spPr>
        <p:txBody>
          <a:bodyPr lIns="0" tIns="0" rIns="0" bIns="0" rtlCol="0" anchor="t">
            <a:spAutoFit/>
          </a:bodyPr>
          <a:lstStyle/>
          <a:p>
            <a:pPr algn="just">
              <a:lnSpc>
                <a:spcPts val="3129"/>
              </a:lnSpc>
            </a:pPr>
            <a:r>
              <a:rPr lang="en-US" sz="2503" spc="135">
                <a:solidFill>
                  <a:srgbClr val="0F0E0E"/>
                </a:solidFill>
                <a:latin typeface="Poppins"/>
                <a:ea typeface="Poppins"/>
                <a:cs typeface="Poppins"/>
                <a:sym typeface="Poppins"/>
              </a:rPr>
              <a:t>Target has huge sales data but lacks clear insights into customer behavior, regional trends, and revenue drivers.</a:t>
            </a:r>
          </a:p>
        </p:txBody>
      </p:sp>
      <p:sp>
        <p:nvSpPr>
          <p:cNvPr id="10" name="TextBox 10"/>
          <p:cNvSpPr txBox="1"/>
          <p:nvPr/>
        </p:nvSpPr>
        <p:spPr>
          <a:xfrm>
            <a:off x="1312491" y="3168637"/>
            <a:ext cx="4953687" cy="551698"/>
          </a:xfrm>
          <a:prstGeom prst="rect">
            <a:avLst/>
          </a:prstGeom>
        </p:spPr>
        <p:txBody>
          <a:bodyPr lIns="0" tIns="0" rIns="0" bIns="0" rtlCol="0" anchor="t">
            <a:spAutoFit/>
          </a:bodyPr>
          <a:lstStyle/>
          <a:p>
            <a:pPr algn="l">
              <a:lnSpc>
                <a:spcPts val="3861"/>
              </a:lnSpc>
            </a:pPr>
            <a:r>
              <a:rPr lang="en-US" sz="3712">
                <a:solidFill>
                  <a:srgbClr val="FC0328"/>
                </a:solidFill>
                <a:latin typeface="Poppins"/>
                <a:ea typeface="Poppins"/>
                <a:cs typeface="Poppins"/>
                <a:sym typeface="Poppins"/>
              </a:rPr>
              <a:t>Problem</a:t>
            </a:r>
          </a:p>
        </p:txBody>
      </p:sp>
      <p:sp>
        <p:nvSpPr>
          <p:cNvPr id="11" name="TextBox 11"/>
          <p:cNvSpPr txBox="1"/>
          <p:nvPr/>
        </p:nvSpPr>
        <p:spPr>
          <a:xfrm>
            <a:off x="1312491" y="5574591"/>
            <a:ext cx="10122515" cy="803254"/>
          </a:xfrm>
          <a:prstGeom prst="rect">
            <a:avLst/>
          </a:prstGeom>
        </p:spPr>
        <p:txBody>
          <a:bodyPr lIns="0" tIns="0" rIns="0" bIns="0" rtlCol="0" anchor="t">
            <a:spAutoFit/>
          </a:bodyPr>
          <a:lstStyle/>
          <a:p>
            <a:pPr algn="just">
              <a:lnSpc>
                <a:spcPts val="3129"/>
              </a:lnSpc>
            </a:pPr>
            <a:r>
              <a:rPr lang="en-US" sz="2503" spc="135">
                <a:solidFill>
                  <a:srgbClr val="0F0E0E"/>
                </a:solidFill>
                <a:latin typeface="Poppins"/>
                <a:ea typeface="Poppins"/>
                <a:cs typeface="Poppins"/>
                <a:sym typeface="Poppins"/>
              </a:rPr>
              <a:t>Without proper analysis, decisions are delayed—causing missed opportunities in inventory, marketing, and growth.</a:t>
            </a:r>
          </a:p>
        </p:txBody>
      </p:sp>
      <p:sp>
        <p:nvSpPr>
          <p:cNvPr id="12" name="TextBox 12"/>
          <p:cNvSpPr txBox="1"/>
          <p:nvPr/>
        </p:nvSpPr>
        <p:spPr>
          <a:xfrm>
            <a:off x="1312491" y="4952689"/>
            <a:ext cx="4953687" cy="551698"/>
          </a:xfrm>
          <a:prstGeom prst="rect">
            <a:avLst/>
          </a:prstGeom>
        </p:spPr>
        <p:txBody>
          <a:bodyPr lIns="0" tIns="0" rIns="0" bIns="0" rtlCol="0" anchor="t">
            <a:spAutoFit/>
          </a:bodyPr>
          <a:lstStyle/>
          <a:p>
            <a:pPr algn="l">
              <a:lnSpc>
                <a:spcPts val="3861"/>
              </a:lnSpc>
            </a:pPr>
            <a:r>
              <a:rPr lang="en-US" sz="3712">
                <a:solidFill>
                  <a:srgbClr val="FC0328"/>
                </a:solidFill>
                <a:latin typeface="Poppins"/>
                <a:ea typeface="Poppins"/>
                <a:cs typeface="Poppins"/>
                <a:sym typeface="Poppins"/>
              </a:rPr>
              <a:t>Impact</a:t>
            </a:r>
          </a:p>
        </p:txBody>
      </p:sp>
      <p:sp>
        <p:nvSpPr>
          <p:cNvPr id="13" name="TextBox 13"/>
          <p:cNvSpPr txBox="1"/>
          <p:nvPr/>
        </p:nvSpPr>
        <p:spPr>
          <a:xfrm>
            <a:off x="1312491" y="7358167"/>
            <a:ext cx="10122515" cy="1193779"/>
          </a:xfrm>
          <a:prstGeom prst="rect">
            <a:avLst/>
          </a:prstGeom>
        </p:spPr>
        <p:txBody>
          <a:bodyPr lIns="0" tIns="0" rIns="0" bIns="0" rtlCol="0" anchor="t">
            <a:spAutoFit/>
          </a:bodyPr>
          <a:lstStyle/>
          <a:p>
            <a:pPr algn="just">
              <a:lnSpc>
                <a:spcPts val="3129"/>
              </a:lnSpc>
            </a:pPr>
            <a:r>
              <a:rPr lang="en-US" sz="2503" spc="135">
                <a:solidFill>
                  <a:srgbClr val="0F0E0E"/>
                </a:solidFill>
                <a:latin typeface="Poppins"/>
                <a:ea typeface="Poppins"/>
                <a:cs typeface="Poppins"/>
                <a:sym typeface="Poppins"/>
              </a:rPr>
              <a:t>Using MySQL, Python, and Power BI, this project turns raw data into actionable insights to boost demand forecasting and profitability.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7F7"/>
        </a:solidFill>
        <a:effectLst/>
      </p:bgPr>
    </p:bg>
    <p:spTree>
      <p:nvGrpSpPr>
        <p:cNvPr id="1" name=""/>
        <p:cNvGrpSpPr/>
        <p:nvPr/>
      </p:nvGrpSpPr>
      <p:grpSpPr>
        <a:xfrm>
          <a:off x="0" y="0"/>
          <a:ext cx="0" cy="0"/>
          <a:chOff x="0" y="0"/>
          <a:chExt cx="0" cy="0"/>
        </a:xfrm>
      </p:grpSpPr>
      <p:sp>
        <p:nvSpPr>
          <p:cNvPr id="2" name="Freeform 2"/>
          <p:cNvSpPr/>
          <p:nvPr/>
        </p:nvSpPr>
        <p:spPr>
          <a:xfrm>
            <a:off x="-690155" y="-440201"/>
            <a:ext cx="2978563" cy="1634486"/>
          </a:xfrm>
          <a:custGeom>
            <a:avLst/>
            <a:gdLst/>
            <a:ahLst/>
            <a:cxnLst/>
            <a:rect l="l" t="t" r="r" b="b"/>
            <a:pathLst>
              <a:path w="2978563" h="1634486">
                <a:moveTo>
                  <a:pt x="0" y="0"/>
                </a:moveTo>
                <a:lnTo>
                  <a:pt x="2978562" y="0"/>
                </a:lnTo>
                <a:lnTo>
                  <a:pt x="2978562" y="1634487"/>
                </a:lnTo>
                <a:lnTo>
                  <a:pt x="0" y="16344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 name="Group 3"/>
          <p:cNvGrpSpPr/>
          <p:nvPr/>
        </p:nvGrpSpPr>
        <p:grpSpPr>
          <a:xfrm>
            <a:off x="-997500" y="9627318"/>
            <a:ext cx="22894267" cy="10620241"/>
            <a:chOff x="0" y="0"/>
            <a:chExt cx="6029766" cy="2797100"/>
          </a:xfrm>
        </p:grpSpPr>
        <p:sp>
          <p:nvSpPr>
            <p:cNvPr id="4" name="Freeform 4"/>
            <p:cNvSpPr/>
            <p:nvPr/>
          </p:nvSpPr>
          <p:spPr>
            <a:xfrm>
              <a:off x="0" y="0"/>
              <a:ext cx="6029766" cy="2797101"/>
            </a:xfrm>
            <a:custGeom>
              <a:avLst/>
              <a:gdLst/>
              <a:ahLst/>
              <a:cxnLst/>
              <a:rect l="l" t="t" r="r" b="b"/>
              <a:pathLst>
                <a:path w="6029766" h="2797101">
                  <a:moveTo>
                    <a:pt x="0" y="0"/>
                  </a:moveTo>
                  <a:lnTo>
                    <a:pt x="6029766" y="0"/>
                  </a:lnTo>
                  <a:lnTo>
                    <a:pt x="6029766" y="2797101"/>
                  </a:lnTo>
                  <a:lnTo>
                    <a:pt x="0" y="2797101"/>
                  </a:lnTo>
                  <a:close/>
                </a:path>
              </a:pathLst>
            </a:custGeom>
            <a:solidFill>
              <a:srgbClr val="FC0328"/>
            </a:solidFill>
          </p:spPr>
          <p:txBody>
            <a:bodyPr/>
            <a:lstStyle/>
            <a:p>
              <a:endParaRPr lang="en-IN"/>
            </a:p>
          </p:txBody>
        </p:sp>
        <p:sp>
          <p:nvSpPr>
            <p:cNvPr id="5" name="TextBox 5"/>
            <p:cNvSpPr txBox="1"/>
            <p:nvPr/>
          </p:nvSpPr>
          <p:spPr>
            <a:xfrm>
              <a:off x="0" y="9525"/>
              <a:ext cx="6029766" cy="2787575"/>
            </a:xfrm>
            <a:prstGeom prst="rect">
              <a:avLst/>
            </a:prstGeom>
          </p:spPr>
          <p:txBody>
            <a:bodyPr lIns="50800" tIns="50800" rIns="50800" bIns="50800" rtlCol="0" anchor="ctr"/>
            <a:lstStyle/>
            <a:p>
              <a:pPr algn="ctr">
                <a:lnSpc>
                  <a:spcPts val="2624"/>
                </a:lnSpc>
              </a:pPr>
              <a:endParaRPr/>
            </a:p>
          </p:txBody>
        </p:sp>
      </p:grpSp>
      <p:sp>
        <p:nvSpPr>
          <p:cNvPr id="6" name="Freeform 6"/>
          <p:cNvSpPr/>
          <p:nvPr/>
        </p:nvSpPr>
        <p:spPr>
          <a:xfrm>
            <a:off x="799126" y="431040"/>
            <a:ext cx="2119363" cy="1195320"/>
          </a:xfrm>
          <a:custGeom>
            <a:avLst/>
            <a:gdLst/>
            <a:ahLst/>
            <a:cxnLst/>
            <a:rect l="l" t="t" r="r" b="b"/>
            <a:pathLst>
              <a:path w="2119363" h="1195320">
                <a:moveTo>
                  <a:pt x="0" y="0"/>
                </a:moveTo>
                <a:lnTo>
                  <a:pt x="2119362" y="0"/>
                </a:lnTo>
                <a:lnTo>
                  <a:pt x="2119362" y="1195320"/>
                </a:lnTo>
                <a:lnTo>
                  <a:pt x="0" y="1195320"/>
                </a:lnTo>
                <a:lnTo>
                  <a:pt x="0" y="0"/>
                </a:lnTo>
                <a:close/>
              </a:path>
            </a:pathLst>
          </a:custGeom>
          <a:blipFill>
            <a:blip r:embed="rId4"/>
            <a:stretch>
              <a:fillRect/>
            </a:stretch>
          </a:blipFill>
        </p:spPr>
        <p:txBody>
          <a:bodyPr/>
          <a:lstStyle/>
          <a:p>
            <a:endParaRPr lang="en-IN"/>
          </a:p>
        </p:txBody>
      </p:sp>
      <p:sp>
        <p:nvSpPr>
          <p:cNvPr id="7" name="Freeform 7"/>
          <p:cNvSpPr/>
          <p:nvPr/>
        </p:nvSpPr>
        <p:spPr>
          <a:xfrm>
            <a:off x="4465970" y="622527"/>
            <a:ext cx="13342722" cy="8022312"/>
          </a:xfrm>
          <a:custGeom>
            <a:avLst/>
            <a:gdLst/>
            <a:ahLst/>
            <a:cxnLst/>
            <a:rect l="l" t="t" r="r" b="b"/>
            <a:pathLst>
              <a:path w="13342722" h="8022312">
                <a:moveTo>
                  <a:pt x="0" y="0"/>
                </a:moveTo>
                <a:lnTo>
                  <a:pt x="13342722" y="0"/>
                </a:lnTo>
                <a:lnTo>
                  <a:pt x="13342722" y="8022312"/>
                </a:lnTo>
                <a:lnTo>
                  <a:pt x="0" y="8022312"/>
                </a:lnTo>
                <a:lnTo>
                  <a:pt x="0" y="0"/>
                </a:lnTo>
                <a:close/>
              </a:path>
            </a:pathLst>
          </a:custGeom>
          <a:blipFill>
            <a:blip r:embed="rId5"/>
            <a:stretch>
              <a:fillRect/>
            </a:stretch>
          </a:blipFill>
        </p:spPr>
        <p:txBody>
          <a:bodyPr/>
          <a:lstStyle/>
          <a:p>
            <a:endParaRPr lang="en-IN"/>
          </a:p>
        </p:txBody>
      </p:sp>
      <p:sp>
        <p:nvSpPr>
          <p:cNvPr id="8" name="TextBox 8"/>
          <p:cNvSpPr txBox="1"/>
          <p:nvPr/>
        </p:nvSpPr>
        <p:spPr>
          <a:xfrm>
            <a:off x="799126" y="1816568"/>
            <a:ext cx="3666844" cy="3018930"/>
          </a:xfrm>
          <a:prstGeom prst="rect">
            <a:avLst/>
          </a:prstGeom>
        </p:spPr>
        <p:txBody>
          <a:bodyPr lIns="0" tIns="0" rIns="0" bIns="0" rtlCol="0" anchor="t">
            <a:spAutoFit/>
          </a:bodyPr>
          <a:lstStyle/>
          <a:p>
            <a:pPr algn="l">
              <a:lnSpc>
                <a:spcPts val="7888"/>
              </a:lnSpc>
            </a:pPr>
            <a:r>
              <a:rPr lang="en-US" sz="5758" b="1">
                <a:solidFill>
                  <a:srgbClr val="FC0328"/>
                </a:solidFill>
                <a:latin typeface="Poppins Bold"/>
                <a:ea typeface="Poppins Bold"/>
                <a:cs typeface="Poppins Bold"/>
                <a:sym typeface="Poppins Bold"/>
              </a:rPr>
              <a:t>Target’s </a:t>
            </a:r>
          </a:p>
          <a:p>
            <a:pPr algn="l">
              <a:lnSpc>
                <a:spcPts val="7888"/>
              </a:lnSpc>
            </a:pPr>
            <a:r>
              <a:rPr lang="en-US" sz="5758" b="1">
                <a:solidFill>
                  <a:srgbClr val="FC0328"/>
                </a:solidFill>
                <a:latin typeface="Poppins Bold"/>
                <a:ea typeface="Poppins Bold"/>
                <a:cs typeface="Poppins Bold"/>
                <a:sym typeface="Poppins Bold"/>
              </a:rPr>
              <a:t>Dataset</a:t>
            </a:r>
          </a:p>
          <a:p>
            <a:pPr algn="l">
              <a:lnSpc>
                <a:spcPts val="7888"/>
              </a:lnSpc>
            </a:pPr>
            <a:r>
              <a:rPr lang="en-US" sz="5758" b="1">
                <a:solidFill>
                  <a:srgbClr val="FC0328"/>
                </a:solidFill>
                <a:latin typeface="Poppins Bold"/>
                <a:ea typeface="Poppins Bold"/>
                <a:cs typeface="Poppins Bold"/>
                <a:sym typeface="Poppins Bold"/>
              </a:rPr>
              <a:t>Schema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7F7"/>
        </a:solidFill>
        <a:effectLst/>
      </p:bgPr>
    </p:bg>
    <p:spTree>
      <p:nvGrpSpPr>
        <p:cNvPr id="1" name=""/>
        <p:cNvGrpSpPr/>
        <p:nvPr/>
      </p:nvGrpSpPr>
      <p:grpSpPr>
        <a:xfrm>
          <a:off x="0" y="0"/>
          <a:ext cx="0" cy="0"/>
          <a:chOff x="0" y="0"/>
          <a:chExt cx="0" cy="0"/>
        </a:xfrm>
      </p:grpSpPr>
      <p:sp>
        <p:nvSpPr>
          <p:cNvPr id="2" name="Freeform 2"/>
          <p:cNvSpPr/>
          <p:nvPr/>
        </p:nvSpPr>
        <p:spPr>
          <a:xfrm>
            <a:off x="-1348531" y="9469757"/>
            <a:ext cx="2978563" cy="1634486"/>
          </a:xfrm>
          <a:custGeom>
            <a:avLst/>
            <a:gdLst/>
            <a:ahLst/>
            <a:cxnLst/>
            <a:rect l="l" t="t" r="r" b="b"/>
            <a:pathLst>
              <a:path w="2978563" h="1634486">
                <a:moveTo>
                  <a:pt x="0" y="0"/>
                </a:moveTo>
                <a:lnTo>
                  <a:pt x="2978562" y="0"/>
                </a:lnTo>
                <a:lnTo>
                  <a:pt x="2978562" y="1634486"/>
                </a:lnTo>
                <a:lnTo>
                  <a:pt x="0" y="16344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 name="Group 3"/>
          <p:cNvGrpSpPr/>
          <p:nvPr/>
        </p:nvGrpSpPr>
        <p:grpSpPr>
          <a:xfrm>
            <a:off x="17542194" y="-86345"/>
            <a:ext cx="22894267" cy="10620241"/>
            <a:chOff x="0" y="0"/>
            <a:chExt cx="6029766" cy="2797100"/>
          </a:xfrm>
        </p:grpSpPr>
        <p:sp>
          <p:nvSpPr>
            <p:cNvPr id="4" name="Freeform 4"/>
            <p:cNvSpPr/>
            <p:nvPr/>
          </p:nvSpPr>
          <p:spPr>
            <a:xfrm>
              <a:off x="0" y="0"/>
              <a:ext cx="6029766" cy="2797101"/>
            </a:xfrm>
            <a:custGeom>
              <a:avLst/>
              <a:gdLst/>
              <a:ahLst/>
              <a:cxnLst/>
              <a:rect l="l" t="t" r="r" b="b"/>
              <a:pathLst>
                <a:path w="6029766" h="2797101">
                  <a:moveTo>
                    <a:pt x="0" y="0"/>
                  </a:moveTo>
                  <a:lnTo>
                    <a:pt x="6029766" y="0"/>
                  </a:lnTo>
                  <a:lnTo>
                    <a:pt x="6029766" y="2797101"/>
                  </a:lnTo>
                  <a:lnTo>
                    <a:pt x="0" y="2797101"/>
                  </a:lnTo>
                  <a:close/>
                </a:path>
              </a:pathLst>
            </a:custGeom>
            <a:solidFill>
              <a:srgbClr val="FC0328"/>
            </a:solidFill>
          </p:spPr>
          <p:txBody>
            <a:bodyPr/>
            <a:lstStyle/>
            <a:p>
              <a:endParaRPr lang="en-IN"/>
            </a:p>
          </p:txBody>
        </p:sp>
        <p:sp>
          <p:nvSpPr>
            <p:cNvPr id="5" name="TextBox 5"/>
            <p:cNvSpPr txBox="1"/>
            <p:nvPr/>
          </p:nvSpPr>
          <p:spPr>
            <a:xfrm>
              <a:off x="0" y="9525"/>
              <a:ext cx="6029766" cy="2787575"/>
            </a:xfrm>
            <a:prstGeom prst="rect">
              <a:avLst/>
            </a:prstGeom>
          </p:spPr>
          <p:txBody>
            <a:bodyPr lIns="50800" tIns="50800" rIns="50800" bIns="50800" rtlCol="0" anchor="ctr"/>
            <a:lstStyle/>
            <a:p>
              <a:pPr algn="ctr">
                <a:lnSpc>
                  <a:spcPts val="2624"/>
                </a:lnSpc>
              </a:pPr>
              <a:endParaRPr/>
            </a:p>
          </p:txBody>
        </p:sp>
      </p:grpSp>
      <p:sp>
        <p:nvSpPr>
          <p:cNvPr id="6" name="Freeform 6"/>
          <p:cNvSpPr/>
          <p:nvPr/>
        </p:nvSpPr>
        <p:spPr>
          <a:xfrm>
            <a:off x="799126" y="431040"/>
            <a:ext cx="2119363" cy="1195320"/>
          </a:xfrm>
          <a:custGeom>
            <a:avLst/>
            <a:gdLst/>
            <a:ahLst/>
            <a:cxnLst/>
            <a:rect l="l" t="t" r="r" b="b"/>
            <a:pathLst>
              <a:path w="2119363" h="1195320">
                <a:moveTo>
                  <a:pt x="0" y="0"/>
                </a:moveTo>
                <a:lnTo>
                  <a:pt x="2119362" y="0"/>
                </a:lnTo>
                <a:lnTo>
                  <a:pt x="2119362" y="1195320"/>
                </a:lnTo>
                <a:lnTo>
                  <a:pt x="0" y="1195320"/>
                </a:lnTo>
                <a:lnTo>
                  <a:pt x="0" y="0"/>
                </a:lnTo>
                <a:close/>
              </a:path>
            </a:pathLst>
          </a:custGeom>
          <a:blipFill>
            <a:blip r:embed="rId4"/>
            <a:stretch>
              <a:fillRect/>
            </a:stretch>
          </a:blipFill>
        </p:spPr>
        <p:txBody>
          <a:bodyPr/>
          <a:lstStyle/>
          <a:p>
            <a:endParaRPr lang="en-IN"/>
          </a:p>
        </p:txBody>
      </p:sp>
      <p:sp>
        <p:nvSpPr>
          <p:cNvPr id="7" name="Freeform 7"/>
          <p:cNvSpPr/>
          <p:nvPr/>
        </p:nvSpPr>
        <p:spPr>
          <a:xfrm>
            <a:off x="1312491" y="2931519"/>
            <a:ext cx="14757386" cy="5632855"/>
          </a:xfrm>
          <a:custGeom>
            <a:avLst/>
            <a:gdLst/>
            <a:ahLst/>
            <a:cxnLst/>
            <a:rect l="l" t="t" r="r" b="b"/>
            <a:pathLst>
              <a:path w="14757386" h="5632855">
                <a:moveTo>
                  <a:pt x="0" y="0"/>
                </a:moveTo>
                <a:lnTo>
                  <a:pt x="14757386" y="0"/>
                </a:lnTo>
                <a:lnTo>
                  <a:pt x="14757386" y="5632855"/>
                </a:lnTo>
                <a:lnTo>
                  <a:pt x="0" y="5632855"/>
                </a:lnTo>
                <a:lnTo>
                  <a:pt x="0" y="0"/>
                </a:lnTo>
                <a:close/>
              </a:path>
            </a:pathLst>
          </a:custGeom>
          <a:blipFill>
            <a:blip r:embed="rId5"/>
            <a:stretch>
              <a:fillRect t="-31624" b="-42924"/>
            </a:stretch>
          </a:blipFill>
        </p:spPr>
        <p:txBody>
          <a:bodyPr/>
          <a:lstStyle/>
          <a:p>
            <a:endParaRPr lang="en-IN"/>
          </a:p>
        </p:txBody>
      </p:sp>
      <p:sp>
        <p:nvSpPr>
          <p:cNvPr id="8" name="TextBox 8"/>
          <p:cNvSpPr txBox="1"/>
          <p:nvPr/>
        </p:nvSpPr>
        <p:spPr>
          <a:xfrm>
            <a:off x="1312491" y="1892053"/>
            <a:ext cx="9271675" cy="1039466"/>
          </a:xfrm>
          <a:prstGeom prst="rect">
            <a:avLst/>
          </a:prstGeom>
        </p:spPr>
        <p:txBody>
          <a:bodyPr lIns="0" tIns="0" rIns="0" bIns="0" rtlCol="0" anchor="t">
            <a:spAutoFit/>
          </a:bodyPr>
          <a:lstStyle/>
          <a:p>
            <a:pPr algn="l">
              <a:lnSpc>
                <a:spcPts val="7376"/>
              </a:lnSpc>
            </a:pPr>
            <a:r>
              <a:rPr lang="en-US" sz="7092" b="1">
                <a:solidFill>
                  <a:srgbClr val="FC0328"/>
                </a:solidFill>
                <a:latin typeface="Poppins Bold"/>
                <a:ea typeface="Poppins Bold"/>
                <a:cs typeface="Poppins Bold"/>
                <a:sym typeface="Poppins Bold"/>
              </a:rPr>
              <a:t>Data Pipeline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7F7"/>
        </a:solidFill>
        <a:effectLst/>
      </p:bgPr>
    </p:bg>
    <p:spTree>
      <p:nvGrpSpPr>
        <p:cNvPr id="1" name=""/>
        <p:cNvGrpSpPr/>
        <p:nvPr/>
      </p:nvGrpSpPr>
      <p:grpSpPr>
        <a:xfrm>
          <a:off x="0" y="0"/>
          <a:ext cx="0" cy="0"/>
          <a:chOff x="0" y="0"/>
          <a:chExt cx="0" cy="0"/>
        </a:xfrm>
      </p:grpSpPr>
      <p:sp>
        <p:nvSpPr>
          <p:cNvPr id="2" name="Freeform 2"/>
          <p:cNvSpPr/>
          <p:nvPr/>
        </p:nvSpPr>
        <p:spPr>
          <a:xfrm>
            <a:off x="-1348531" y="9469757"/>
            <a:ext cx="2978563" cy="1634486"/>
          </a:xfrm>
          <a:custGeom>
            <a:avLst/>
            <a:gdLst/>
            <a:ahLst/>
            <a:cxnLst/>
            <a:rect l="l" t="t" r="r" b="b"/>
            <a:pathLst>
              <a:path w="2978563" h="1634486">
                <a:moveTo>
                  <a:pt x="0" y="0"/>
                </a:moveTo>
                <a:lnTo>
                  <a:pt x="2978562" y="0"/>
                </a:lnTo>
                <a:lnTo>
                  <a:pt x="2978562" y="1634486"/>
                </a:lnTo>
                <a:lnTo>
                  <a:pt x="0" y="16344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 name="Group 3"/>
          <p:cNvGrpSpPr/>
          <p:nvPr/>
        </p:nvGrpSpPr>
        <p:grpSpPr>
          <a:xfrm>
            <a:off x="17542194" y="-86345"/>
            <a:ext cx="22894267" cy="10620241"/>
            <a:chOff x="0" y="0"/>
            <a:chExt cx="6029766" cy="2797100"/>
          </a:xfrm>
        </p:grpSpPr>
        <p:sp>
          <p:nvSpPr>
            <p:cNvPr id="4" name="Freeform 4"/>
            <p:cNvSpPr/>
            <p:nvPr/>
          </p:nvSpPr>
          <p:spPr>
            <a:xfrm>
              <a:off x="0" y="0"/>
              <a:ext cx="6029766" cy="2797101"/>
            </a:xfrm>
            <a:custGeom>
              <a:avLst/>
              <a:gdLst/>
              <a:ahLst/>
              <a:cxnLst/>
              <a:rect l="l" t="t" r="r" b="b"/>
              <a:pathLst>
                <a:path w="6029766" h="2797101">
                  <a:moveTo>
                    <a:pt x="0" y="0"/>
                  </a:moveTo>
                  <a:lnTo>
                    <a:pt x="6029766" y="0"/>
                  </a:lnTo>
                  <a:lnTo>
                    <a:pt x="6029766" y="2797101"/>
                  </a:lnTo>
                  <a:lnTo>
                    <a:pt x="0" y="2797101"/>
                  </a:lnTo>
                  <a:close/>
                </a:path>
              </a:pathLst>
            </a:custGeom>
            <a:solidFill>
              <a:srgbClr val="FC0328"/>
            </a:solidFill>
          </p:spPr>
          <p:txBody>
            <a:bodyPr/>
            <a:lstStyle/>
            <a:p>
              <a:endParaRPr lang="en-IN"/>
            </a:p>
          </p:txBody>
        </p:sp>
        <p:sp>
          <p:nvSpPr>
            <p:cNvPr id="5" name="TextBox 5"/>
            <p:cNvSpPr txBox="1"/>
            <p:nvPr/>
          </p:nvSpPr>
          <p:spPr>
            <a:xfrm>
              <a:off x="0" y="9525"/>
              <a:ext cx="6029766" cy="2787575"/>
            </a:xfrm>
            <a:prstGeom prst="rect">
              <a:avLst/>
            </a:prstGeom>
          </p:spPr>
          <p:txBody>
            <a:bodyPr lIns="50800" tIns="50800" rIns="50800" bIns="50800" rtlCol="0" anchor="ctr"/>
            <a:lstStyle/>
            <a:p>
              <a:pPr algn="ctr">
                <a:lnSpc>
                  <a:spcPts val="2624"/>
                </a:lnSpc>
              </a:pPr>
              <a:endParaRPr/>
            </a:p>
          </p:txBody>
        </p:sp>
      </p:grpSp>
      <p:sp>
        <p:nvSpPr>
          <p:cNvPr id="6" name="Freeform 6"/>
          <p:cNvSpPr/>
          <p:nvPr/>
        </p:nvSpPr>
        <p:spPr>
          <a:xfrm>
            <a:off x="799126" y="431040"/>
            <a:ext cx="2119363" cy="1195320"/>
          </a:xfrm>
          <a:custGeom>
            <a:avLst/>
            <a:gdLst/>
            <a:ahLst/>
            <a:cxnLst/>
            <a:rect l="l" t="t" r="r" b="b"/>
            <a:pathLst>
              <a:path w="2119363" h="1195320">
                <a:moveTo>
                  <a:pt x="0" y="0"/>
                </a:moveTo>
                <a:lnTo>
                  <a:pt x="2119362" y="0"/>
                </a:lnTo>
                <a:lnTo>
                  <a:pt x="2119362" y="1195320"/>
                </a:lnTo>
                <a:lnTo>
                  <a:pt x="0" y="1195320"/>
                </a:lnTo>
                <a:lnTo>
                  <a:pt x="0" y="0"/>
                </a:lnTo>
                <a:close/>
              </a:path>
            </a:pathLst>
          </a:custGeom>
          <a:blipFill>
            <a:blip r:embed="rId4"/>
            <a:stretch>
              <a:fillRect/>
            </a:stretch>
          </a:blipFill>
        </p:spPr>
        <p:txBody>
          <a:bodyPr/>
          <a:lstStyle/>
          <a:p>
            <a:endParaRPr lang="en-IN"/>
          </a:p>
        </p:txBody>
      </p:sp>
      <p:sp>
        <p:nvSpPr>
          <p:cNvPr id="7" name="Freeform 7"/>
          <p:cNvSpPr/>
          <p:nvPr/>
        </p:nvSpPr>
        <p:spPr>
          <a:xfrm>
            <a:off x="9923434" y="7291492"/>
            <a:ext cx="1253168" cy="1163325"/>
          </a:xfrm>
          <a:custGeom>
            <a:avLst/>
            <a:gdLst/>
            <a:ahLst/>
            <a:cxnLst/>
            <a:rect l="l" t="t" r="r" b="b"/>
            <a:pathLst>
              <a:path w="1253168" h="1163325">
                <a:moveTo>
                  <a:pt x="0" y="0"/>
                </a:moveTo>
                <a:lnTo>
                  <a:pt x="1253168" y="0"/>
                </a:lnTo>
                <a:lnTo>
                  <a:pt x="1253168" y="1163325"/>
                </a:lnTo>
                <a:lnTo>
                  <a:pt x="0" y="1163325"/>
                </a:lnTo>
                <a:lnTo>
                  <a:pt x="0" y="0"/>
                </a:lnTo>
                <a:close/>
              </a:path>
            </a:pathLst>
          </a:custGeom>
          <a:blipFill>
            <a:blip r:embed="rId5"/>
            <a:stretch>
              <a:fillRect b="-7722"/>
            </a:stretch>
          </a:blipFill>
        </p:spPr>
        <p:txBody>
          <a:bodyPr/>
          <a:lstStyle/>
          <a:p>
            <a:endParaRPr lang="en-IN"/>
          </a:p>
        </p:txBody>
      </p:sp>
      <p:sp>
        <p:nvSpPr>
          <p:cNvPr id="8" name="Freeform 8"/>
          <p:cNvSpPr/>
          <p:nvPr/>
        </p:nvSpPr>
        <p:spPr>
          <a:xfrm>
            <a:off x="9923434" y="5143500"/>
            <a:ext cx="1171890" cy="1286888"/>
          </a:xfrm>
          <a:custGeom>
            <a:avLst/>
            <a:gdLst/>
            <a:ahLst/>
            <a:cxnLst/>
            <a:rect l="l" t="t" r="r" b="b"/>
            <a:pathLst>
              <a:path w="1171890" h="1286888">
                <a:moveTo>
                  <a:pt x="0" y="0"/>
                </a:moveTo>
                <a:lnTo>
                  <a:pt x="1171889" y="0"/>
                </a:lnTo>
                <a:lnTo>
                  <a:pt x="1171889" y="1286888"/>
                </a:lnTo>
                <a:lnTo>
                  <a:pt x="0" y="1286888"/>
                </a:lnTo>
                <a:lnTo>
                  <a:pt x="0" y="0"/>
                </a:lnTo>
                <a:close/>
              </a:path>
            </a:pathLst>
          </a:custGeom>
          <a:blipFill>
            <a:blip r:embed="rId6"/>
            <a:stretch>
              <a:fillRect/>
            </a:stretch>
          </a:blipFill>
        </p:spPr>
        <p:txBody>
          <a:bodyPr/>
          <a:lstStyle/>
          <a:p>
            <a:endParaRPr lang="en-IN"/>
          </a:p>
        </p:txBody>
      </p:sp>
      <p:sp>
        <p:nvSpPr>
          <p:cNvPr id="9" name="Freeform 9"/>
          <p:cNvSpPr/>
          <p:nvPr/>
        </p:nvSpPr>
        <p:spPr>
          <a:xfrm>
            <a:off x="9923434" y="3192444"/>
            <a:ext cx="1113475" cy="1055782"/>
          </a:xfrm>
          <a:custGeom>
            <a:avLst/>
            <a:gdLst/>
            <a:ahLst/>
            <a:cxnLst/>
            <a:rect l="l" t="t" r="r" b="b"/>
            <a:pathLst>
              <a:path w="1113475" h="1055782">
                <a:moveTo>
                  <a:pt x="0" y="0"/>
                </a:moveTo>
                <a:lnTo>
                  <a:pt x="1113474" y="0"/>
                </a:lnTo>
                <a:lnTo>
                  <a:pt x="1113474" y="1055782"/>
                </a:lnTo>
                <a:lnTo>
                  <a:pt x="0" y="1055782"/>
                </a:lnTo>
                <a:lnTo>
                  <a:pt x="0" y="0"/>
                </a:lnTo>
                <a:close/>
              </a:path>
            </a:pathLst>
          </a:custGeom>
          <a:blipFill>
            <a:blip r:embed="rId7"/>
            <a:stretch>
              <a:fillRect/>
            </a:stretch>
          </a:blipFill>
        </p:spPr>
        <p:txBody>
          <a:bodyPr/>
          <a:lstStyle/>
          <a:p>
            <a:endParaRPr lang="en-IN"/>
          </a:p>
        </p:txBody>
      </p:sp>
      <p:sp>
        <p:nvSpPr>
          <p:cNvPr id="10" name="TextBox 10"/>
          <p:cNvSpPr txBox="1"/>
          <p:nvPr/>
        </p:nvSpPr>
        <p:spPr>
          <a:xfrm>
            <a:off x="1312491" y="1892053"/>
            <a:ext cx="9271675" cy="1039466"/>
          </a:xfrm>
          <a:prstGeom prst="rect">
            <a:avLst/>
          </a:prstGeom>
        </p:spPr>
        <p:txBody>
          <a:bodyPr lIns="0" tIns="0" rIns="0" bIns="0" rtlCol="0" anchor="t">
            <a:spAutoFit/>
          </a:bodyPr>
          <a:lstStyle/>
          <a:p>
            <a:pPr algn="l">
              <a:lnSpc>
                <a:spcPts val="7376"/>
              </a:lnSpc>
            </a:pPr>
            <a:r>
              <a:rPr lang="en-US" sz="7092" b="1">
                <a:solidFill>
                  <a:srgbClr val="FC0328"/>
                </a:solidFill>
                <a:latin typeface="Poppins Bold"/>
                <a:ea typeface="Poppins Bold"/>
                <a:cs typeface="Poppins Bold"/>
                <a:sym typeface="Poppins Bold"/>
              </a:rPr>
              <a:t>Tools Used</a:t>
            </a:r>
          </a:p>
        </p:txBody>
      </p:sp>
      <p:sp>
        <p:nvSpPr>
          <p:cNvPr id="11" name="TextBox 11"/>
          <p:cNvSpPr txBox="1"/>
          <p:nvPr/>
        </p:nvSpPr>
        <p:spPr>
          <a:xfrm>
            <a:off x="1312491" y="7020406"/>
            <a:ext cx="4953687" cy="551698"/>
          </a:xfrm>
          <a:prstGeom prst="rect">
            <a:avLst/>
          </a:prstGeom>
        </p:spPr>
        <p:txBody>
          <a:bodyPr lIns="0" tIns="0" rIns="0" bIns="0" rtlCol="0" anchor="t">
            <a:spAutoFit/>
          </a:bodyPr>
          <a:lstStyle/>
          <a:p>
            <a:pPr algn="l">
              <a:lnSpc>
                <a:spcPts val="3861"/>
              </a:lnSpc>
            </a:pPr>
            <a:r>
              <a:rPr lang="en-US" sz="3712">
                <a:solidFill>
                  <a:srgbClr val="FC0328"/>
                </a:solidFill>
                <a:latin typeface="Poppins"/>
                <a:ea typeface="Poppins"/>
                <a:cs typeface="Poppins"/>
                <a:sym typeface="Poppins"/>
              </a:rPr>
              <a:t>Power BI</a:t>
            </a:r>
          </a:p>
        </p:txBody>
      </p:sp>
      <p:sp>
        <p:nvSpPr>
          <p:cNvPr id="12" name="TextBox 12"/>
          <p:cNvSpPr txBox="1"/>
          <p:nvPr/>
        </p:nvSpPr>
        <p:spPr>
          <a:xfrm>
            <a:off x="1388691" y="3672710"/>
            <a:ext cx="8247556" cy="981054"/>
          </a:xfrm>
          <a:prstGeom prst="rect">
            <a:avLst/>
          </a:prstGeom>
        </p:spPr>
        <p:txBody>
          <a:bodyPr lIns="0" tIns="0" rIns="0" bIns="0" rtlCol="0" anchor="t">
            <a:spAutoFit/>
          </a:bodyPr>
          <a:lstStyle/>
          <a:p>
            <a:pPr algn="just">
              <a:lnSpc>
                <a:spcPts val="3754"/>
              </a:lnSpc>
            </a:pPr>
            <a:r>
              <a:rPr lang="en-US" sz="3003" spc="162">
                <a:solidFill>
                  <a:srgbClr val="0F0E0E"/>
                </a:solidFill>
                <a:latin typeface="Poppins"/>
                <a:ea typeface="Poppins"/>
                <a:cs typeface="Poppins"/>
                <a:sym typeface="Poppins"/>
              </a:rPr>
              <a:t>Stored and queried transactional data.</a:t>
            </a:r>
          </a:p>
          <a:p>
            <a:pPr algn="just">
              <a:lnSpc>
                <a:spcPts val="3754"/>
              </a:lnSpc>
            </a:pPr>
            <a:endParaRPr lang="en-US" sz="3003" spc="162">
              <a:solidFill>
                <a:srgbClr val="0F0E0E"/>
              </a:solidFill>
              <a:latin typeface="Poppins"/>
              <a:ea typeface="Poppins"/>
              <a:cs typeface="Poppins"/>
              <a:sym typeface="Poppins"/>
            </a:endParaRPr>
          </a:p>
        </p:txBody>
      </p:sp>
      <p:sp>
        <p:nvSpPr>
          <p:cNvPr id="13" name="TextBox 13"/>
          <p:cNvSpPr txBox="1"/>
          <p:nvPr/>
        </p:nvSpPr>
        <p:spPr>
          <a:xfrm>
            <a:off x="1312491" y="3168637"/>
            <a:ext cx="4953687" cy="551698"/>
          </a:xfrm>
          <a:prstGeom prst="rect">
            <a:avLst/>
          </a:prstGeom>
        </p:spPr>
        <p:txBody>
          <a:bodyPr lIns="0" tIns="0" rIns="0" bIns="0" rtlCol="0" anchor="t">
            <a:spAutoFit/>
          </a:bodyPr>
          <a:lstStyle/>
          <a:p>
            <a:pPr algn="l">
              <a:lnSpc>
                <a:spcPts val="3861"/>
              </a:lnSpc>
            </a:pPr>
            <a:r>
              <a:rPr lang="en-US" sz="3712">
                <a:solidFill>
                  <a:srgbClr val="FC0328"/>
                </a:solidFill>
                <a:latin typeface="Poppins"/>
                <a:ea typeface="Poppins"/>
                <a:cs typeface="Poppins"/>
                <a:sym typeface="Poppins"/>
              </a:rPr>
              <a:t>MySQL</a:t>
            </a:r>
          </a:p>
        </p:txBody>
      </p:sp>
      <p:sp>
        <p:nvSpPr>
          <p:cNvPr id="14" name="TextBox 14"/>
          <p:cNvSpPr txBox="1"/>
          <p:nvPr/>
        </p:nvSpPr>
        <p:spPr>
          <a:xfrm>
            <a:off x="1388691" y="5652827"/>
            <a:ext cx="8772544" cy="917867"/>
          </a:xfrm>
          <a:prstGeom prst="rect">
            <a:avLst/>
          </a:prstGeom>
        </p:spPr>
        <p:txBody>
          <a:bodyPr lIns="0" tIns="0" rIns="0" bIns="0" rtlCol="0" anchor="t">
            <a:spAutoFit/>
          </a:bodyPr>
          <a:lstStyle/>
          <a:p>
            <a:pPr algn="just">
              <a:lnSpc>
                <a:spcPts val="3558"/>
              </a:lnSpc>
            </a:pPr>
            <a:r>
              <a:rPr lang="en-US" sz="2847" spc="153">
                <a:solidFill>
                  <a:srgbClr val="0F0E0E"/>
                </a:solidFill>
                <a:latin typeface="Poppins"/>
                <a:ea typeface="Poppins"/>
                <a:cs typeface="Poppins"/>
                <a:sym typeface="Poppins"/>
              </a:rPr>
              <a:t>Cleaned data and calculated advanced</a:t>
            </a:r>
          </a:p>
          <a:p>
            <a:pPr algn="just">
              <a:lnSpc>
                <a:spcPts val="3558"/>
              </a:lnSpc>
            </a:pPr>
            <a:r>
              <a:rPr lang="en-US" sz="2847" spc="153">
                <a:solidFill>
                  <a:srgbClr val="0F0E0E"/>
                </a:solidFill>
                <a:latin typeface="Poppins"/>
                <a:ea typeface="Poppins"/>
                <a:cs typeface="Poppins"/>
                <a:sym typeface="Poppins"/>
              </a:rPr>
              <a:t>metrics (Pandas,Matplotlib,Seaborn)</a:t>
            </a:r>
          </a:p>
        </p:txBody>
      </p:sp>
      <p:sp>
        <p:nvSpPr>
          <p:cNvPr id="15" name="TextBox 15"/>
          <p:cNvSpPr txBox="1"/>
          <p:nvPr/>
        </p:nvSpPr>
        <p:spPr>
          <a:xfrm>
            <a:off x="1312491" y="4872414"/>
            <a:ext cx="4953687" cy="551698"/>
          </a:xfrm>
          <a:prstGeom prst="rect">
            <a:avLst/>
          </a:prstGeom>
        </p:spPr>
        <p:txBody>
          <a:bodyPr lIns="0" tIns="0" rIns="0" bIns="0" rtlCol="0" anchor="t">
            <a:spAutoFit/>
          </a:bodyPr>
          <a:lstStyle/>
          <a:p>
            <a:pPr algn="l">
              <a:lnSpc>
                <a:spcPts val="3861"/>
              </a:lnSpc>
            </a:pPr>
            <a:r>
              <a:rPr lang="en-US" sz="3712">
                <a:solidFill>
                  <a:srgbClr val="FC0328"/>
                </a:solidFill>
                <a:latin typeface="Poppins"/>
                <a:ea typeface="Poppins"/>
                <a:cs typeface="Poppins"/>
                <a:sym typeface="Poppins"/>
              </a:rPr>
              <a:t>Python</a:t>
            </a:r>
          </a:p>
        </p:txBody>
      </p:sp>
      <p:sp>
        <p:nvSpPr>
          <p:cNvPr id="16" name="TextBox 16"/>
          <p:cNvSpPr txBox="1"/>
          <p:nvPr/>
        </p:nvSpPr>
        <p:spPr>
          <a:xfrm>
            <a:off x="1312491" y="7647740"/>
            <a:ext cx="10122515" cy="412729"/>
          </a:xfrm>
          <a:prstGeom prst="rect">
            <a:avLst/>
          </a:prstGeom>
        </p:spPr>
        <p:txBody>
          <a:bodyPr lIns="0" tIns="0" rIns="0" bIns="0" rtlCol="0" anchor="t">
            <a:spAutoFit/>
          </a:bodyPr>
          <a:lstStyle/>
          <a:p>
            <a:pPr algn="just">
              <a:lnSpc>
                <a:spcPts val="3129"/>
              </a:lnSpc>
            </a:pPr>
            <a:r>
              <a:rPr lang="en-US" sz="2503" spc="135">
                <a:solidFill>
                  <a:srgbClr val="0F0E0E"/>
                </a:solidFill>
                <a:latin typeface="Poppins"/>
                <a:ea typeface="Poppins"/>
                <a:cs typeface="Poppins"/>
                <a:sym typeface="Poppins"/>
              </a:rPr>
              <a:t>Built interactive dashboards for stakeholders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7F7"/>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21011021" y="3070173"/>
            <a:ext cx="42391962" cy="788601"/>
            <a:chOff x="0" y="0"/>
            <a:chExt cx="11164961" cy="207697"/>
          </a:xfrm>
        </p:grpSpPr>
        <p:sp>
          <p:nvSpPr>
            <p:cNvPr id="3" name="Freeform 3"/>
            <p:cNvSpPr/>
            <p:nvPr/>
          </p:nvSpPr>
          <p:spPr>
            <a:xfrm>
              <a:off x="0" y="0"/>
              <a:ext cx="11164961" cy="207697"/>
            </a:xfrm>
            <a:custGeom>
              <a:avLst/>
              <a:gdLst/>
              <a:ahLst/>
              <a:cxnLst/>
              <a:rect l="l" t="t" r="r" b="b"/>
              <a:pathLst>
                <a:path w="11164961" h="207697">
                  <a:moveTo>
                    <a:pt x="0" y="0"/>
                  </a:moveTo>
                  <a:lnTo>
                    <a:pt x="11164961" y="0"/>
                  </a:lnTo>
                  <a:lnTo>
                    <a:pt x="11164961" y="207697"/>
                  </a:lnTo>
                  <a:lnTo>
                    <a:pt x="0" y="207697"/>
                  </a:lnTo>
                  <a:close/>
                </a:path>
              </a:pathLst>
            </a:custGeom>
            <a:solidFill>
              <a:srgbClr val="FC0328"/>
            </a:solidFill>
          </p:spPr>
          <p:txBody>
            <a:bodyPr/>
            <a:lstStyle/>
            <a:p>
              <a:endParaRPr lang="en-IN"/>
            </a:p>
          </p:txBody>
        </p:sp>
        <p:sp>
          <p:nvSpPr>
            <p:cNvPr id="4" name="TextBox 4"/>
            <p:cNvSpPr txBox="1"/>
            <p:nvPr/>
          </p:nvSpPr>
          <p:spPr>
            <a:xfrm>
              <a:off x="0" y="9525"/>
              <a:ext cx="11164961" cy="198172"/>
            </a:xfrm>
            <a:prstGeom prst="rect">
              <a:avLst/>
            </a:prstGeom>
          </p:spPr>
          <p:txBody>
            <a:bodyPr lIns="50800" tIns="50800" rIns="50800" bIns="50800" rtlCol="0" anchor="ctr"/>
            <a:lstStyle/>
            <a:p>
              <a:pPr algn="ctr">
                <a:lnSpc>
                  <a:spcPts val="2624"/>
                </a:lnSpc>
              </a:pPr>
              <a:endParaRPr/>
            </a:p>
          </p:txBody>
        </p:sp>
      </p:grpSp>
      <p:sp>
        <p:nvSpPr>
          <p:cNvPr id="5" name="Freeform 5"/>
          <p:cNvSpPr/>
          <p:nvPr/>
        </p:nvSpPr>
        <p:spPr>
          <a:xfrm>
            <a:off x="15836670" y="5083795"/>
            <a:ext cx="917881" cy="917881"/>
          </a:xfrm>
          <a:custGeom>
            <a:avLst/>
            <a:gdLst/>
            <a:ahLst/>
            <a:cxnLst/>
            <a:rect l="l" t="t" r="r" b="b"/>
            <a:pathLst>
              <a:path w="917881" h="917881">
                <a:moveTo>
                  <a:pt x="0" y="0"/>
                </a:moveTo>
                <a:lnTo>
                  <a:pt x="917881" y="0"/>
                </a:lnTo>
                <a:lnTo>
                  <a:pt x="917881" y="917881"/>
                </a:lnTo>
                <a:lnTo>
                  <a:pt x="0" y="9178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16316289" y="-110722"/>
            <a:ext cx="2978563" cy="1634486"/>
          </a:xfrm>
          <a:custGeom>
            <a:avLst/>
            <a:gdLst/>
            <a:ahLst/>
            <a:cxnLst/>
            <a:rect l="l" t="t" r="r" b="b"/>
            <a:pathLst>
              <a:path w="2978563" h="1634486">
                <a:moveTo>
                  <a:pt x="0" y="0"/>
                </a:moveTo>
                <a:lnTo>
                  <a:pt x="2978563" y="0"/>
                </a:lnTo>
                <a:lnTo>
                  <a:pt x="2978563" y="1634487"/>
                </a:lnTo>
                <a:lnTo>
                  <a:pt x="0" y="16344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7" name="Freeform 7"/>
          <p:cNvSpPr/>
          <p:nvPr/>
        </p:nvSpPr>
        <p:spPr>
          <a:xfrm>
            <a:off x="799126" y="431040"/>
            <a:ext cx="2119363" cy="1195320"/>
          </a:xfrm>
          <a:custGeom>
            <a:avLst/>
            <a:gdLst/>
            <a:ahLst/>
            <a:cxnLst/>
            <a:rect l="l" t="t" r="r" b="b"/>
            <a:pathLst>
              <a:path w="2119363" h="1195320">
                <a:moveTo>
                  <a:pt x="0" y="0"/>
                </a:moveTo>
                <a:lnTo>
                  <a:pt x="2119362" y="0"/>
                </a:lnTo>
                <a:lnTo>
                  <a:pt x="2119362" y="1195320"/>
                </a:lnTo>
                <a:lnTo>
                  <a:pt x="0" y="1195320"/>
                </a:lnTo>
                <a:lnTo>
                  <a:pt x="0" y="0"/>
                </a:lnTo>
                <a:close/>
              </a:path>
            </a:pathLst>
          </a:custGeom>
          <a:blipFill>
            <a:blip r:embed="rId6"/>
            <a:stretch>
              <a:fillRect/>
            </a:stretch>
          </a:blipFill>
        </p:spPr>
        <p:txBody>
          <a:bodyPr/>
          <a:lstStyle/>
          <a:p>
            <a:endParaRPr lang="en-IN"/>
          </a:p>
        </p:txBody>
      </p:sp>
      <p:sp>
        <p:nvSpPr>
          <p:cNvPr id="8" name="TextBox 8"/>
          <p:cNvSpPr txBox="1"/>
          <p:nvPr/>
        </p:nvSpPr>
        <p:spPr>
          <a:xfrm>
            <a:off x="3457549" y="586894"/>
            <a:ext cx="9271675" cy="1039466"/>
          </a:xfrm>
          <a:prstGeom prst="rect">
            <a:avLst/>
          </a:prstGeom>
        </p:spPr>
        <p:txBody>
          <a:bodyPr lIns="0" tIns="0" rIns="0" bIns="0" rtlCol="0" anchor="t">
            <a:spAutoFit/>
          </a:bodyPr>
          <a:lstStyle/>
          <a:p>
            <a:pPr algn="l">
              <a:lnSpc>
                <a:spcPts val="7376"/>
              </a:lnSpc>
            </a:pPr>
            <a:r>
              <a:rPr lang="en-US" sz="7092" b="1">
                <a:solidFill>
                  <a:srgbClr val="FC0328"/>
                </a:solidFill>
                <a:latin typeface="Poppins Bold"/>
                <a:ea typeface="Poppins Bold"/>
                <a:cs typeface="Poppins Bold"/>
                <a:sym typeface="Poppins Bold"/>
              </a:rPr>
              <a:t>Key Insights</a:t>
            </a:r>
          </a:p>
        </p:txBody>
      </p:sp>
      <p:sp>
        <p:nvSpPr>
          <p:cNvPr id="9" name="TextBox 9"/>
          <p:cNvSpPr txBox="1"/>
          <p:nvPr/>
        </p:nvSpPr>
        <p:spPr>
          <a:xfrm>
            <a:off x="1028700" y="2402261"/>
            <a:ext cx="4953687" cy="551698"/>
          </a:xfrm>
          <a:prstGeom prst="rect">
            <a:avLst/>
          </a:prstGeom>
        </p:spPr>
        <p:txBody>
          <a:bodyPr lIns="0" tIns="0" rIns="0" bIns="0" rtlCol="0" anchor="t">
            <a:spAutoFit/>
          </a:bodyPr>
          <a:lstStyle/>
          <a:p>
            <a:pPr algn="l">
              <a:lnSpc>
                <a:spcPts val="3861"/>
              </a:lnSpc>
            </a:pPr>
            <a:r>
              <a:rPr lang="en-US" sz="3712">
                <a:solidFill>
                  <a:srgbClr val="FC0328"/>
                </a:solidFill>
                <a:latin typeface="Poppins"/>
                <a:ea typeface="Poppins"/>
                <a:cs typeface="Poppins"/>
                <a:sym typeface="Poppins"/>
              </a:rPr>
              <a:t>Some KPI’s</a:t>
            </a:r>
          </a:p>
        </p:txBody>
      </p:sp>
      <p:sp>
        <p:nvSpPr>
          <p:cNvPr id="10" name="TextBox 10"/>
          <p:cNvSpPr txBox="1"/>
          <p:nvPr/>
        </p:nvSpPr>
        <p:spPr>
          <a:xfrm>
            <a:off x="1248197" y="3154114"/>
            <a:ext cx="15377700" cy="5602605"/>
          </a:xfrm>
          <a:prstGeom prst="rect">
            <a:avLst/>
          </a:prstGeom>
        </p:spPr>
        <p:txBody>
          <a:bodyPr lIns="0" tIns="0" rIns="0" bIns="0" rtlCol="0" anchor="t">
            <a:spAutoFit/>
          </a:bodyPr>
          <a:lstStyle/>
          <a:p>
            <a:pPr algn="l">
              <a:lnSpc>
                <a:spcPts val="6300"/>
              </a:lnSpc>
            </a:pPr>
            <a:r>
              <a:rPr lang="en-US" sz="4200">
                <a:solidFill>
                  <a:srgbClr val="000000"/>
                </a:solidFill>
                <a:latin typeface="Poppins"/>
                <a:ea typeface="Poppins"/>
                <a:cs typeface="Poppins"/>
                <a:sym typeface="Poppins"/>
              </a:rPr>
              <a:t>🧍 99.4K Unique Customers</a:t>
            </a:r>
          </a:p>
          <a:p>
            <a:pPr algn="l">
              <a:lnSpc>
                <a:spcPts val="6300"/>
              </a:lnSpc>
            </a:pPr>
            <a:r>
              <a:rPr lang="en-US" sz="4200">
                <a:solidFill>
                  <a:srgbClr val="000000"/>
                </a:solidFill>
                <a:latin typeface="Poppins"/>
                <a:ea typeface="Poppins"/>
                <a:cs typeface="Poppins"/>
                <a:sym typeface="Poppins"/>
              </a:rPr>
              <a:t>🧾 49.4% Used Installments</a:t>
            </a:r>
          </a:p>
          <a:p>
            <a:pPr algn="l">
              <a:lnSpc>
                <a:spcPts val="6300"/>
              </a:lnSpc>
            </a:pPr>
            <a:r>
              <a:rPr lang="en-US" sz="4200">
                <a:solidFill>
                  <a:srgbClr val="000000"/>
                </a:solidFill>
                <a:latin typeface="Poppins"/>
                <a:ea typeface="Poppins"/>
                <a:cs typeface="Poppins"/>
                <a:sym typeface="Poppins"/>
              </a:rPr>
              <a:t>🛒 3,095 Sellers</a:t>
            </a:r>
          </a:p>
          <a:p>
            <a:pPr algn="l">
              <a:lnSpc>
                <a:spcPts val="6300"/>
              </a:lnSpc>
            </a:pPr>
            <a:r>
              <a:rPr lang="en-US" sz="4200">
                <a:solidFill>
                  <a:srgbClr val="000000"/>
                </a:solidFill>
                <a:latin typeface="Poppins"/>
                <a:ea typeface="Poppins"/>
                <a:cs typeface="Poppins"/>
                <a:sym typeface="Poppins"/>
              </a:rPr>
              <a:t>🌐 27 States Covered</a:t>
            </a:r>
          </a:p>
          <a:p>
            <a:pPr algn="l">
              <a:lnSpc>
                <a:spcPts val="6300"/>
              </a:lnSpc>
            </a:pPr>
            <a:r>
              <a:rPr lang="en-US" sz="4200">
                <a:solidFill>
                  <a:srgbClr val="000000"/>
                </a:solidFill>
                <a:latin typeface="Poppins"/>
                <a:ea typeface="Poppins"/>
                <a:cs typeface="Poppins"/>
                <a:sym typeface="Poppins"/>
              </a:rPr>
              <a:t>📦 74 Product Categories</a:t>
            </a:r>
          </a:p>
          <a:p>
            <a:pPr algn="l">
              <a:lnSpc>
                <a:spcPts val="6300"/>
              </a:lnSpc>
            </a:pPr>
            <a:r>
              <a:rPr lang="en-US" sz="4200">
                <a:solidFill>
                  <a:srgbClr val="000000"/>
                </a:solidFill>
                <a:latin typeface="Poppins"/>
                <a:ea typeface="Poppins"/>
                <a:cs typeface="Poppins"/>
                <a:sym typeface="Poppins"/>
              </a:rPr>
              <a:t>📈 Price-Demand Correlation: -0.106 (Weak inverse                           </a:t>
            </a:r>
          </a:p>
          <a:p>
            <a:pPr algn="l">
              <a:lnSpc>
                <a:spcPts val="6300"/>
              </a:lnSpc>
            </a:pPr>
            <a:r>
              <a:rPr lang="en-US" sz="4200">
                <a:solidFill>
                  <a:srgbClr val="000000"/>
                </a:solidFill>
                <a:latin typeface="Poppins"/>
                <a:ea typeface="Poppins"/>
                <a:cs typeface="Poppins"/>
                <a:sym typeface="Poppins"/>
              </a:rPr>
              <a:t>      relationship)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7F7"/>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21011021" y="3070173"/>
            <a:ext cx="42391962" cy="788601"/>
            <a:chOff x="0" y="0"/>
            <a:chExt cx="11164961" cy="207697"/>
          </a:xfrm>
        </p:grpSpPr>
        <p:sp>
          <p:nvSpPr>
            <p:cNvPr id="3" name="Freeform 3"/>
            <p:cNvSpPr/>
            <p:nvPr/>
          </p:nvSpPr>
          <p:spPr>
            <a:xfrm>
              <a:off x="0" y="0"/>
              <a:ext cx="11164961" cy="207697"/>
            </a:xfrm>
            <a:custGeom>
              <a:avLst/>
              <a:gdLst/>
              <a:ahLst/>
              <a:cxnLst/>
              <a:rect l="l" t="t" r="r" b="b"/>
              <a:pathLst>
                <a:path w="11164961" h="207697">
                  <a:moveTo>
                    <a:pt x="0" y="0"/>
                  </a:moveTo>
                  <a:lnTo>
                    <a:pt x="11164961" y="0"/>
                  </a:lnTo>
                  <a:lnTo>
                    <a:pt x="11164961" y="207697"/>
                  </a:lnTo>
                  <a:lnTo>
                    <a:pt x="0" y="207697"/>
                  </a:lnTo>
                  <a:close/>
                </a:path>
              </a:pathLst>
            </a:custGeom>
            <a:solidFill>
              <a:srgbClr val="FC0328"/>
            </a:solidFill>
          </p:spPr>
          <p:txBody>
            <a:bodyPr/>
            <a:lstStyle/>
            <a:p>
              <a:endParaRPr lang="en-IN"/>
            </a:p>
          </p:txBody>
        </p:sp>
        <p:sp>
          <p:nvSpPr>
            <p:cNvPr id="4" name="TextBox 4"/>
            <p:cNvSpPr txBox="1"/>
            <p:nvPr/>
          </p:nvSpPr>
          <p:spPr>
            <a:xfrm>
              <a:off x="0" y="9525"/>
              <a:ext cx="11164961" cy="198172"/>
            </a:xfrm>
            <a:prstGeom prst="rect">
              <a:avLst/>
            </a:prstGeom>
          </p:spPr>
          <p:txBody>
            <a:bodyPr lIns="50800" tIns="50800" rIns="50800" bIns="50800" rtlCol="0" anchor="ctr"/>
            <a:lstStyle/>
            <a:p>
              <a:pPr algn="ctr">
                <a:lnSpc>
                  <a:spcPts val="2624"/>
                </a:lnSpc>
              </a:pPr>
              <a:endParaRPr/>
            </a:p>
          </p:txBody>
        </p:sp>
      </p:grpSp>
      <p:sp>
        <p:nvSpPr>
          <p:cNvPr id="5" name="Freeform 5"/>
          <p:cNvSpPr/>
          <p:nvPr/>
        </p:nvSpPr>
        <p:spPr>
          <a:xfrm>
            <a:off x="16316289" y="-110722"/>
            <a:ext cx="2978563" cy="1634486"/>
          </a:xfrm>
          <a:custGeom>
            <a:avLst/>
            <a:gdLst/>
            <a:ahLst/>
            <a:cxnLst/>
            <a:rect l="l" t="t" r="r" b="b"/>
            <a:pathLst>
              <a:path w="2978563" h="1634486">
                <a:moveTo>
                  <a:pt x="0" y="0"/>
                </a:moveTo>
                <a:lnTo>
                  <a:pt x="2978563" y="0"/>
                </a:lnTo>
                <a:lnTo>
                  <a:pt x="2978563" y="1634487"/>
                </a:lnTo>
                <a:lnTo>
                  <a:pt x="0" y="16344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636821" y="108861"/>
            <a:ext cx="2119363" cy="1195320"/>
          </a:xfrm>
          <a:custGeom>
            <a:avLst/>
            <a:gdLst/>
            <a:ahLst/>
            <a:cxnLst/>
            <a:rect l="l" t="t" r="r" b="b"/>
            <a:pathLst>
              <a:path w="2119363" h="1195320">
                <a:moveTo>
                  <a:pt x="0" y="0"/>
                </a:moveTo>
                <a:lnTo>
                  <a:pt x="2119363" y="0"/>
                </a:lnTo>
                <a:lnTo>
                  <a:pt x="2119363" y="1195321"/>
                </a:lnTo>
                <a:lnTo>
                  <a:pt x="0" y="1195321"/>
                </a:lnTo>
                <a:lnTo>
                  <a:pt x="0" y="0"/>
                </a:lnTo>
                <a:close/>
              </a:path>
            </a:pathLst>
          </a:custGeom>
          <a:blipFill>
            <a:blip r:embed="rId4"/>
            <a:stretch>
              <a:fillRect/>
            </a:stretch>
          </a:blipFill>
        </p:spPr>
        <p:txBody>
          <a:bodyPr/>
          <a:lstStyle/>
          <a:p>
            <a:endParaRPr lang="en-IN"/>
          </a:p>
        </p:txBody>
      </p:sp>
      <p:sp>
        <p:nvSpPr>
          <p:cNvPr id="7" name="Freeform 7"/>
          <p:cNvSpPr/>
          <p:nvPr/>
        </p:nvSpPr>
        <p:spPr>
          <a:xfrm>
            <a:off x="1355250" y="1523765"/>
            <a:ext cx="15140131" cy="8497398"/>
          </a:xfrm>
          <a:custGeom>
            <a:avLst/>
            <a:gdLst/>
            <a:ahLst/>
            <a:cxnLst/>
            <a:rect l="l" t="t" r="r" b="b"/>
            <a:pathLst>
              <a:path w="15140131" h="8497398">
                <a:moveTo>
                  <a:pt x="0" y="0"/>
                </a:moveTo>
                <a:lnTo>
                  <a:pt x="15140131" y="0"/>
                </a:lnTo>
                <a:lnTo>
                  <a:pt x="15140131" y="8497398"/>
                </a:lnTo>
                <a:lnTo>
                  <a:pt x="0" y="8497398"/>
                </a:lnTo>
                <a:lnTo>
                  <a:pt x="0" y="0"/>
                </a:lnTo>
                <a:close/>
              </a:path>
            </a:pathLst>
          </a:custGeom>
          <a:blipFill>
            <a:blip r:embed="rId5"/>
            <a:stretch>
              <a:fillRect/>
            </a:stretch>
          </a:blipFill>
        </p:spPr>
        <p:txBody>
          <a:bodyPr/>
          <a:lstStyle/>
          <a:p>
            <a:endParaRPr lang="en-IN"/>
          </a:p>
        </p:txBody>
      </p:sp>
      <p:sp>
        <p:nvSpPr>
          <p:cNvPr id="8" name="TextBox 8"/>
          <p:cNvSpPr txBox="1"/>
          <p:nvPr/>
        </p:nvSpPr>
        <p:spPr>
          <a:xfrm>
            <a:off x="3213514" y="264716"/>
            <a:ext cx="9271675" cy="1039466"/>
          </a:xfrm>
          <a:prstGeom prst="rect">
            <a:avLst/>
          </a:prstGeom>
        </p:spPr>
        <p:txBody>
          <a:bodyPr lIns="0" tIns="0" rIns="0" bIns="0" rtlCol="0" anchor="t">
            <a:spAutoFit/>
          </a:bodyPr>
          <a:lstStyle/>
          <a:p>
            <a:pPr algn="l">
              <a:lnSpc>
                <a:spcPts val="7376"/>
              </a:lnSpc>
            </a:pPr>
            <a:r>
              <a:rPr lang="en-US" sz="7092" b="1">
                <a:solidFill>
                  <a:srgbClr val="FC0328"/>
                </a:solidFill>
                <a:latin typeface="Poppins Bold"/>
                <a:ea typeface="Poppins Bold"/>
                <a:cs typeface="Poppins Bold"/>
                <a:sym typeface="Poppins Bold"/>
              </a:rPr>
              <a:t>Key Insights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7F7"/>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21011021" y="3070173"/>
            <a:ext cx="42391962" cy="788601"/>
            <a:chOff x="0" y="0"/>
            <a:chExt cx="11164961" cy="207697"/>
          </a:xfrm>
        </p:grpSpPr>
        <p:sp>
          <p:nvSpPr>
            <p:cNvPr id="3" name="Freeform 3"/>
            <p:cNvSpPr/>
            <p:nvPr/>
          </p:nvSpPr>
          <p:spPr>
            <a:xfrm>
              <a:off x="0" y="0"/>
              <a:ext cx="11164961" cy="207697"/>
            </a:xfrm>
            <a:custGeom>
              <a:avLst/>
              <a:gdLst/>
              <a:ahLst/>
              <a:cxnLst/>
              <a:rect l="l" t="t" r="r" b="b"/>
              <a:pathLst>
                <a:path w="11164961" h="207697">
                  <a:moveTo>
                    <a:pt x="0" y="0"/>
                  </a:moveTo>
                  <a:lnTo>
                    <a:pt x="11164961" y="0"/>
                  </a:lnTo>
                  <a:lnTo>
                    <a:pt x="11164961" y="207697"/>
                  </a:lnTo>
                  <a:lnTo>
                    <a:pt x="0" y="207697"/>
                  </a:lnTo>
                  <a:close/>
                </a:path>
              </a:pathLst>
            </a:custGeom>
            <a:solidFill>
              <a:srgbClr val="FC0328"/>
            </a:solidFill>
          </p:spPr>
          <p:txBody>
            <a:bodyPr/>
            <a:lstStyle/>
            <a:p>
              <a:endParaRPr lang="en-IN"/>
            </a:p>
          </p:txBody>
        </p:sp>
        <p:sp>
          <p:nvSpPr>
            <p:cNvPr id="4" name="TextBox 4"/>
            <p:cNvSpPr txBox="1"/>
            <p:nvPr/>
          </p:nvSpPr>
          <p:spPr>
            <a:xfrm>
              <a:off x="0" y="9525"/>
              <a:ext cx="11164961" cy="198172"/>
            </a:xfrm>
            <a:prstGeom prst="rect">
              <a:avLst/>
            </a:prstGeom>
          </p:spPr>
          <p:txBody>
            <a:bodyPr lIns="50800" tIns="50800" rIns="50800" bIns="50800" rtlCol="0" anchor="ctr"/>
            <a:lstStyle/>
            <a:p>
              <a:pPr algn="ctr">
                <a:lnSpc>
                  <a:spcPts val="2624"/>
                </a:lnSpc>
              </a:pPr>
              <a:endParaRPr/>
            </a:p>
          </p:txBody>
        </p:sp>
      </p:grpSp>
      <p:sp>
        <p:nvSpPr>
          <p:cNvPr id="5" name="Freeform 5"/>
          <p:cNvSpPr/>
          <p:nvPr/>
        </p:nvSpPr>
        <p:spPr>
          <a:xfrm>
            <a:off x="16316289" y="-110722"/>
            <a:ext cx="2978563" cy="1634486"/>
          </a:xfrm>
          <a:custGeom>
            <a:avLst/>
            <a:gdLst/>
            <a:ahLst/>
            <a:cxnLst/>
            <a:rect l="l" t="t" r="r" b="b"/>
            <a:pathLst>
              <a:path w="2978563" h="1634486">
                <a:moveTo>
                  <a:pt x="0" y="0"/>
                </a:moveTo>
                <a:lnTo>
                  <a:pt x="2978563" y="0"/>
                </a:lnTo>
                <a:lnTo>
                  <a:pt x="2978563" y="1634487"/>
                </a:lnTo>
                <a:lnTo>
                  <a:pt x="0" y="16344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636821" y="108861"/>
            <a:ext cx="2119363" cy="1195320"/>
          </a:xfrm>
          <a:custGeom>
            <a:avLst/>
            <a:gdLst/>
            <a:ahLst/>
            <a:cxnLst/>
            <a:rect l="l" t="t" r="r" b="b"/>
            <a:pathLst>
              <a:path w="2119363" h="1195320">
                <a:moveTo>
                  <a:pt x="0" y="0"/>
                </a:moveTo>
                <a:lnTo>
                  <a:pt x="2119363" y="0"/>
                </a:lnTo>
                <a:lnTo>
                  <a:pt x="2119363" y="1195321"/>
                </a:lnTo>
                <a:lnTo>
                  <a:pt x="0" y="1195321"/>
                </a:lnTo>
                <a:lnTo>
                  <a:pt x="0" y="0"/>
                </a:lnTo>
                <a:close/>
              </a:path>
            </a:pathLst>
          </a:custGeom>
          <a:blipFill>
            <a:blip r:embed="rId4"/>
            <a:stretch>
              <a:fillRect/>
            </a:stretch>
          </a:blipFill>
        </p:spPr>
        <p:txBody>
          <a:bodyPr/>
          <a:lstStyle/>
          <a:p>
            <a:endParaRPr lang="en-IN"/>
          </a:p>
        </p:txBody>
      </p:sp>
      <p:sp>
        <p:nvSpPr>
          <p:cNvPr id="7" name="Freeform 7"/>
          <p:cNvSpPr/>
          <p:nvPr/>
        </p:nvSpPr>
        <p:spPr>
          <a:xfrm>
            <a:off x="1696502" y="1523765"/>
            <a:ext cx="14887334" cy="8355516"/>
          </a:xfrm>
          <a:custGeom>
            <a:avLst/>
            <a:gdLst/>
            <a:ahLst/>
            <a:cxnLst/>
            <a:rect l="l" t="t" r="r" b="b"/>
            <a:pathLst>
              <a:path w="14887334" h="8355516">
                <a:moveTo>
                  <a:pt x="0" y="0"/>
                </a:moveTo>
                <a:lnTo>
                  <a:pt x="14887334" y="0"/>
                </a:lnTo>
                <a:lnTo>
                  <a:pt x="14887334" y="8355516"/>
                </a:lnTo>
                <a:lnTo>
                  <a:pt x="0" y="8355516"/>
                </a:lnTo>
                <a:lnTo>
                  <a:pt x="0" y="0"/>
                </a:lnTo>
                <a:close/>
              </a:path>
            </a:pathLst>
          </a:custGeom>
          <a:blipFill>
            <a:blip r:embed="rId5"/>
            <a:stretch>
              <a:fillRect/>
            </a:stretch>
          </a:blipFill>
        </p:spPr>
        <p:txBody>
          <a:bodyPr/>
          <a:lstStyle/>
          <a:p>
            <a:endParaRPr lang="en-IN"/>
          </a:p>
        </p:txBody>
      </p:sp>
      <p:sp>
        <p:nvSpPr>
          <p:cNvPr id="8" name="TextBox 8"/>
          <p:cNvSpPr txBox="1"/>
          <p:nvPr/>
        </p:nvSpPr>
        <p:spPr>
          <a:xfrm>
            <a:off x="3213514" y="264716"/>
            <a:ext cx="9271675" cy="1039466"/>
          </a:xfrm>
          <a:prstGeom prst="rect">
            <a:avLst/>
          </a:prstGeom>
        </p:spPr>
        <p:txBody>
          <a:bodyPr lIns="0" tIns="0" rIns="0" bIns="0" rtlCol="0" anchor="t">
            <a:spAutoFit/>
          </a:bodyPr>
          <a:lstStyle/>
          <a:p>
            <a:pPr algn="l">
              <a:lnSpc>
                <a:spcPts val="7376"/>
              </a:lnSpc>
            </a:pPr>
            <a:r>
              <a:rPr lang="en-US" sz="7092" b="1">
                <a:solidFill>
                  <a:srgbClr val="FC0328"/>
                </a:solidFill>
                <a:latin typeface="Poppins Bold"/>
                <a:ea typeface="Poppins Bold"/>
                <a:cs typeface="Poppins Bold"/>
                <a:sym typeface="Poppins Bold"/>
              </a:rPr>
              <a:t>Key Insights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7F7"/>
        </a:solidFill>
        <a:effectLst/>
      </p:bgPr>
    </p:bg>
    <p:spTree>
      <p:nvGrpSpPr>
        <p:cNvPr id="1" name=""/>
        <p:cNvGrpSpPr/>
        <p:nvPr/>
      </p:nvGrpSpPr>
      <p:grpSpPr>
        <a:xfrm>
          <a:off x="0" y="0"/>
          <a:ext cx="0" cy="0"/>
          <a:chOff x="0" y="0"/>
          <a:chExt cx="0" cy="0"/>
        </a:xfrm>
      </p:grpSpPr>
      <p:grpSp>
        <p:nvGrpSpPr>
          <p:cNvPr id="2" name="Group 2"/>
          <p:cNvGrpSpPr/>
          <p:nvPr/>
        </p:nvGrpSpPr>
        <p:grpSpPr>
          <a:xfrm>
            <a:off x="-13515292" y="9579693"/>
            <a:ext cx="42391962" cy="788601"/>
            <a:chOff x="0" y="0"/>
            <a:chExt cx="11164961" cy="207697"/>
          </a:xfrm>
        </p:grpSpPr>
        <p:sp>
          <p:nvSpPr>
            <p:cNvPr id="3" name="Freeform 3"/>
            <p:cNvSpPr/>
            <p:nvPr/>
          </p:nvSpPr>
          <p:spPr>
            <a:xfrm>
              <a:off x="0" y="0"/>
              <a:ext cx="11164961" cy="207697"/>
            </a:xfrm>
            <a:custGeom>
              <a:avLst/>
              <a:gdLst/>
              <a:ahLst/>
              <a:cxnLst/>
              <a:rect l="l" t="t" r="r" b="b"/>
              <a:pathLst>
                <a:path w="11164961" h="207697">
                  <a:moveTo>
                    <a:pt x="0" y="0"/>
                  </a:moveTo>
                  <a:lnTo>
                    <a:pt x="11164961" y="0"/>
                  </a:lnTo>
                  <a:lnTo>
                    <a:pt x="11164961" y="207697"/>
                  </a:lnTo>
                  <a:lnTo>
                    <a:pt x="0" y="207697"/>
                  </a:lnTo>
                  <a:close/>
                </a:path>
              </a:pathLst>
            </a:custGeom>
            <a:solidFill>
              <a:srgbClr val="FC0328"/>
            </a:solidFill>
          </p:spPr>
          <p:txBody>
            <a:bodyPr/>
            <a:lstStyle/>
            <a:p>
              <a:endParaRPr lang="en-IN"/>
            </a:p>
          </p:txBody>
        </p:sp>
        <p:sp>
          <p:nvSpPr>
            <p:cNvPr id="4" name="TextBox 4"/>
            <p:cNvSpPr txBox="1"/>
            <p:nvPr/>
          </p:nvSpPr>
          <p:spPr>
            <a:xfrm>
              <a:off x="0" y="9525"/>
              <a:ext cx="11164961" cy="198172"/>
            </a:xfrm>
            <a:prstGeom prst="rect">
              <a:avLst/>
            </a:prstGeom>
          </p:spPr>
          <p:txBody>
            <a:bodyPr lIns="50800" tIns="50800" rIns="50800" bIns="50800" rtlCol="0" anchor="ctr"/>
            <a:lstStyle/>
            <a:p>
              <a:pPr algn="ctr">
                <a:lnSpc>
                  <a:spcPts val="2624"/>
                </a:lnSpc>
              </a:pPr>
              <a:endParaRPr/>
            </a:p>
          </p:txBody>
        </p:sp>
      </p:grpSp>
      <p:sp>
        <p:nvSpPr>
          <p:cNvPr id="5" name="Freeform 5"/>
          <p:cNvSpPr/>
          <p:nvPr/>
        </p:nvSpPr>
        <p:spPr>
          <a:xfrm>
            <a:off x="-1200517" y="-434380"/>
            <a:ext cx="2978563" cy="1634486"/>
          </a:xfrm>
          <a:custGeom>
            <a:avLst/>
            <a:gdLst/>
            <a:ahLst/>
            <a:cxnLst/>
            <a:rect l="l" t="t" r="r" b="b"/>
            <a:pathLst>
              <a:path w="2978563" h="1634486">
                <a:moveTo>
                  <a:pt x="0" y="0"/>
                </a:moveTo>
                <a:lnTo>
                  <a:pt x="2978563" y="0"/>
                </a:lnTo>
                <a:lnTo>
                  <a:pt x="2978563" y="1634486"/>
                </a:lnTo>
                <a:lnTo>
                  <a:pt x="0" y="16344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718365" y="431040"/>
            <a:ext cx="2119363" cy="1195320"/>
          </a:xfrm>
          <a:custGeom>
            <a:avLst/>
            <a:gdLst/>
            <a:ahLst/>
            <a:cxnLst/>
            <a:rect l="l" t="t" r="r" b="b"/>
            <a:pathLst>
              <a:path w="2119363" h="1195320">
                <a:moveTo>
                  <a:pt x="0" y="0"/>
                </a:moveTo>
                <a:lnTo>
                  <a:pt x="2119362" y="0"/>
                </a:lnTo>
                <a:lnTo>
                  <a:pt x="2119362" y="1195320"/>
                </a:lnTo>
                <a:lnTo>
                  <a:pt x="0" y="1195320"/>
                </a:lnTo>
                <a:lnTo>
                  <a:pt x="0" y="0"/>
                </a:lnTo>
                <a:close/>
              </a:path>
            </a:pathLst>
          </a:custGeom>
          <a:blipFill>
            <a:blip r:embed="rId4"/>
            <a:stretch>
              <a:fillRect/>
            </a:stretch>
          </a:blipFill>
        </p:spPr>
        <p:txBody>
          <a:bodyPr/>
          <a:lstStyle/>
          <a:p>
            <a:endParaRPr lang="en-IN"/>
          </a:p>
        </p:txBody>
      </p:sp>
      <p:sp>
        <p:nvSpPr>
          <p:cNvPr id="7" name="TextBox 7"/>
          <p:cNvSpPr txBox="1"/>
          <p:nvPr/>
        </p:nvSpPr>
        <p:spPr>
          <a:xfrm>
            <a:off x="1402335" y="1664460"/>
            <a:ext cx="9271675" cy="1039466"/>
          </a:xfrm>
          <a:prstGeom prst="rect">
            <a:avLst/>
          </a:prstGeom>
        </p:spPr>
        <p:txBody>
          <a:bodyPr lIns="0" tIns="0" rIns="0" bIns="0" rtlCol="0" anchor="t">
            <a:spAutoFit/>
          </a:bodyPr>
          <a:lstStyle/>
          <a:p>
            <a:pPr algn="l">
              <a:lnSpc>
                <a:spcPts val="7376"/>
              </a:lnSpc>
            </a:pPr>
            <a:r>
              <a:rPr lang="en-US" sz="7092" b="1">
                <a:solidFill>
                  <a:srgbClr val="FC0328"/>
                </a:solidFill>
                <a:latin typeface="Poppins Bold"/>
                <a:ea typeface="Poppins Bold"/>
                <a:cs typeface="Poppins Bold"/>
                <a:sym typeface="Poppins Bold"/>
              </a:rPr>
              <a:t>Recommendations</a:t>
            </a:r>
          </a:p>
        </p:txBody>
      </p:sp>
      <p:sp>
        <p:nvSpPr>
          <p:cNvPr id="8" name="TextBox 8"/>
          <p:cNvSpPr txBox="1"/>
          <p:nvPr/>
        </p:nvSpPr>
        <p:spPr>
          <a:xfrm>
            <a:off x="1402335" y="2816982"/>
            <a:ext cx="12739846" cy="6487731"/>
          </a:xfrm>
          <a:prstGeom prst="rect">
            <a:avLst/>
          </a:prstGeom>
        </p:spPr>
        <p:txBody>
          <a:bodyPr lIns="0" tIns="0" rIns="0" bIns="0" rtlCol="0" anchor="t">
            <a:spAutoFit/>
          </a:bodyPr>
          <a:lstStyle/>
          <a:p>
            <a:pPr algn="l">
              <a:lnSpc>
                <a:spcPts val="4912"/>
              </a:lnSpc>
            </a:pPr>
            <a:r>
              <a:rPr lang="en-US" sz="2923">
                <a:solidFill>
                  <a:srgbClr val="0F0E0E"/>
                </a:solidFill>
                <a:latin typeface="Poppins"/>
                <a:ea typeface="Poppins"/>
                <a:cs typeface="Poppins"/>
                <a:sym typeface="Poppins"/>
              </a:rPr>
              <a:t>Based on the data analysis, the following actions are recommended:</a:t>
            </a:r>
          </a:p>
          <a:p>
            <a:pPr marL="588107" lvl="1" indent="-294053" algn="l">
              <a:lnSpc>
                <a:spcPts val="4576"/>
              </a:lnSpc>
              <a:buFont typeface="Arial"/>
              <a:buChar char="•"/>
            </a:pPr>
            <a:r>
              <a:rPr lang="en-US" sz="2723">
                <a:solidFill>
                  <a:srgbClr val="0F0E0E"/>
                </a:solidFill>
                <a:latin typeface="Poppins"/>
                <a:ea typeface="Poppins"/>
                <a:cs typeface="Poppins"/>
                <a:sym typeface="Poppins"/>
              </a:rPr>
              <a:t>Increase inventory in top-performing categories to maximize revenue.</a:t>
            </a:r>
          </a:p>
          <a:p>
            <a:pPr marL="588107" lvl="1" indent="-294053" algn="l">
              <a:lnSpc>
                <a:spcPts val="4576"/>
              </a:lnSpc>
              <a:buFont typeface="Arial"/>
              <a:buChar char="•"/>
            </a:pPr>
            <a:r>
              <a:rPr lang="en-US" sz="2723">
                <a:solidFill>
                  <a:srgbClr val="0F0E0E"/>
                </a:solidFill>
                <a:latin typeface="Poppins"/>
                <a:ea typeface="Poppins"/>
                <a:cs typeface="Poppins"/>
                <a:sym typeface="Poppins"/>
              </a:rPr>
              <a:t>Offer loyalty bonuses to top-spending customers to boost retention.</a:t>
            </a:r>
          </a:p>
          <a:p>
            <a:pPr marL="588107" lvl="1" indent="-294053" algn="l">
              <a:lnSpc>
                <a:spcPts val="4576"/>
              </a:lnSpc>
              <a:buFont typeface="Arial"/>
              <a:buChar char="•"/>
            </a:pPr>
            <a:r>
              <a:rPr lang="en-US" sz="2723">
                <a:solidFill>
                  <a:srgbClr val="0F0E0E"/>
                </a:solidFill>
                <a:latin typeface="Poppins"/>
                <a:ea typeface="Poppins"/>
                <a:cs typeface="Poppins"/>
                <a:sym typeface="Poppins"/>
              </a:rPr>
              <a:t>Target high-order-volume cities with localized promotions.</a:t>
            </a:r>
          </a:p>
          <a:p>
            <a:pPr marL="588107" lvl="1" indent="-294053" algn="l">
              <a:lnSpc>
                <a:spcPts val="4576"/>
              </a:lnSpc>
              <a:buFont typeface="Arial"/>
              <a:buChar char="•"/>
            </a:pPr>
            <a:r>
              <a:rPr lang="en-US" sz="2723">
                <a:solidFill>
                  <a:srgbClr val="0F0E0E"/>
                </a:solidFill>
                <a:latin typeface="Poppins"/>
                <a:ea typeface="Poppins"/>
                <a:cs typeface="Poppins"/>
                <a:sym typeface="Poppins"/>
              </a:rPr>
              <a:t>Expand operations in states with growing customer bases.</a:t>
            </a:r>
          </a:p>
          <a:p>
            <a:pPr marL="588107" lvl="1" indent="-294053" algn="l">
              <a:lnSpc>
                <a:spcPts val="4576"/>
              </a:lnSpc>
              <a:buFont typeface="Arial"/>
              <a:buChar char="•"/>
            </a:pPr>
            <a:r>
              <a:rPr lang="en-US" sz="2723">
                <a:solidFill>
                  <a:srgbClr val="0F0E0E"/>
                </a:solidFill>
                <a:latin typeface="Poppins"/>
                <a:ea typeface="Poppins"/>
                <a:cs typeface="Poppins"/>
                <a:sym typeface="Poppins"/>
              </a:rPr>
              <a:t>Encourage installment-based payments to increase affordability.</a:t>
            </a:r>
          </a:p>
          <a:p>
            <a:pPr marL="588107" lvl="1" indent="-294053" algn="l">
              <a:lnSpc>
                <a:spcPts val="4576"/>
              </a:lnSpc>
              <a:buFont typeface="Arial"/>
              <a:buChar char="•"/>
            </a:pPr>
            <a:r>
              <a:rPr lang="en-US" sz="2723">
                <a:solidFill>
                  <a:srgbClr val="0F0E0E"/>
                </a:solidFill>
                <a:latin typeface="Poppins"/>
                <a:ea typeface="Poppins"/>
                <a:cs typeface="Poppins"/>
                <a:sym typeface="Poppins"/>
              </a:rPr>
              <a:t>Highlight best-selling products more prominently in the storefront.</a:t>
            </a:r>
          </a:p>
          <a:p>
            <a:pPr marL="588107" lvl="1" indent="-294053" algn="l">
              <a:lnSpc>
                <a:spcPts val="4576"/>
              </a:lnSpc>
              <a:buFont typeface="Arial"/>
              <a:buChar char="•"/>
            </a:pPr>
            <a:r>
              <a:rPr lang="en-US" sz="2723">
                <a:solidFill>
                  <a:srgbClr val="0F0E0E"/>
                </a:solidFill>
                <a:latin typeface="Poppins"/>
                <a:ea typeface="Poppins"/>
                <a:cs typeface="Poppins"/>
                <a:sym typeface="Poppins"/>
              </a:rPr>
              <a:t>Analyze pricing strategies for low-performing categories.</a:t>
            </a:r>
          </a:p>
          <a:p>
            <a:pPr marL="588107" lvl="1" indent="-294053" algn="l">
              <a:lnSpc>
                <a:spcPts val="4576"/>
              </a:lnSpc>
              <a:buFont typeface="Arial"/>
              <a:buChar char="•"/>
            </a:pPr>
            <a:r>
              <a:rPr lang="en-US" sz="2723">
                <a:solidFill>
                  <a:srgbClr val="0F0E0E"/>
                </a:solidFill>
                <a:latin typeface="Poppins"/>
                <a:ea typeface="Poppins"/>
                <a:cs typeface="Poppins"/>
                <a:sym typeface="Poppins"/>
              </a:rPr>
              <a:t>Streamline seller onboarding in top-performing regions.</a:t>
            </a:r>
          </a:p>
          <a:p>
            <a:pPr marL="588107" lvl="1" indent="-294053" algn="l">
              <a:lnSpc>
                <a:spcPts val="4576"/>
              </a:lnSpc>
              <a:buFont typeface="Arial"/>
              <a:buChar char="•"/>
            </a:pPr>
            <a:r>
              <a:rPr lang="en-US" sz="2723">
                <a:solidFill>
                  <a:srgbClr val="0F0E0E"/>
                </a:solidFill>
                <a:latin typeface="Poppins"/>
                <a:ea typeface="Poppins"/>
                <a:cs typeface="Poppins"/>
                <a:sym typeface="Poppins"/>
              </a:rPr>
              <a:t>Offer bundled discounts on categories with low average order values.</a:t>
            </a:r>
          </a:p>
          <a:p>
            <a:pPr algn="l">
              <a:lnSpc>
                <a:spcPts val="4576"/>
              </a:lnSpc>
            </a:pPr>
            <a:endParaRPr lang="en-US" sz="2723">
              <a:solidFill>
                <a:srgbClr val="0F0E0E"/>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7F7"/>
        </a:solidFill>
        <a:effectLst/>
      </p:bgPr>
    </p:bg>
    <p:spTree>
      <p:nvGrpSpPr>
        <p:cNvPr id="1" name=""/>
        <p:cNvGrpSpPr/>
        <p:nvPr/>
      </p:nvGrpSpPr>
      <p:grpSpPr>
        <a:xfrm>
          <a:off x="0" y="0"/>
          <a:ext cx="0" cy="0"/>
          <a:chOff x="0" y="0"/>
          <a:chExt cx="0" cy="0"/>
        </a:xfrm>
      </p:grpSpPr>
      <p:grpSp>
        <p:nvGrpSpPr>
          <p:cNvPr id="2" name="Group 2"/>
          <p:cNvGrpSpPr/>
          <p:nvPr/>
        </p:nvGrpSpPr>
        <p:grpSpPr>
          <a:xfrm>
            <a:off x="-13515292" y="9579693"/>
            <a:ext cx="42391962" cy="788601"/>
            <a:chOff x="0" y="0"/>
            <a:chExt cx="11164961" cy="207697"/>
          </a:xfrm>
        </p:grpSpPr>
        <p:sp>
          <p:nvSpPr>
            <p:cNvPr id="3" name="Freeform 3"/>
            <p:cNvSpPr/>
            <p:nvPr/>
          </p:nvSpPr>
          <p:spPr>
            <a:xfrm>
              <a:off x="0" y="0"/>
              <a:ext cx="11164961" cy="207697"/>
            </a:xfrm>
            <a:custGeom>
              <a:avLst/>
              <a:gdLst/>
              <a:ahLst/>
              <a:cxnLst/>
              <a:rect l="l" t="t" r="r" b="b"/>
              <a:pathLst>
                <a:path w="11164961" h="207697">
                  <a:moveTo>
                    <a:pt x="0" y="0"/>
                  </a:moveTo>
                  <a:lnTo>
                    <a:pt x="11164961" y="0"/>
                  </a:lnTo>
                  <a:lnTo>
                    <a:pt x="11164961" y="207697"/>
                  </a:lnTo>
                  <a:lnTo>
                    <a:pt x="0" y="207697"/>
                  </a:lnTo>
                  <a:close/>
                </a:path>
              </a:pathLst>
            </a:custGeom>
            <a:solidFill>
              <a:srgbClr val="FC0328"/>
            </a:solidFill>
          </p:spPr>
          <p:txBody>
            <a:bodyPr/>
            <a:lstStyle/>
            <a:p>
              <a:endParaRPr lang="en-IN"/>
            </a:p>
          </p:txBody>
        </p:sp>
        <p:sp>
          <p:nvSpPr>
            <p:cNvPr id="4" name="TextBox 4"/>
            <p:cNvSpPr txBox="1"/>
            <p:nvPr/>
          </p:nvSpPr>
          <p:spPr>
            <a:xfrm>
              <a:off x="0" y="9525"/>
              <a:ext cx="11164961" cy="198172"/>
            </a:xfrm>
            <a:prstGeom prst="rect">
              <a:avLst/>
            </a:prstGeom>
          </p:spPr>
          <p:txBody>
            <a:bodyPr lIns="50800" tIns="50800" rIns="50800" bIns="50800" rtlCol="0" anchor="ctr"/>
            <a:lstStyle/>
            <a:p>
              <a:pPr algn="ctr">
                <a:lnSpc>
                  <a:spcPts val="2624"/>
                </a:lnSpc>
              </a:pPr>
              <a:endParaRPr/>
            </a:p>
          </p:txBody>
        </p:sp>
      </p:grpSp>
      <p:sp>
        <p:nvSpPr>
          <p:cNvPr id="5" name="Freeform 5"/>
          <p:cNvSpPr/>
          <p:nvPr/>
        </p:nvSpPr>
        <p:spPr>
          <a:xfrm>
            <a:off x="-1200517" y="-434380"/>
            <a:ext cx="2978563" cy="1634486"/>
          </a:xfrm>
          <a:custGeom>
            <a:avLst/>
            <a:gdLst/>
            <a:ahLst/>
            <a:cxnLst/>
            <a:rect l="l" t="t" r="r" b="b"/>
            <a:pathLst>
              <a:path w="2978563" h="1634486">
                <a:moveTo>
                  <a:pt x="0" y="0"/>
                </a:moveTo>
                <a:lnTo>
                  <a:pt x="2978563" y="0"/>
                </a:lnTo>
                <a:lnTo>
                  <a:pt x="2978563" y="1634486"/>
                </a:lnTo>
                <a:lnTo>
                  <a:pt x="0" y="16344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718365" y="431040"/>
            <a:ext cx="2119363" cy="1195320"/>
          </a:xfrm>
          <a:custGeom>
            <a:avLst/>
            <a:gdLst/>
            <a:ahLst/>
            <a:cxnLst/>
            <a:rect l="l" t="t" r="r" b="b"/>
            <a:pathLst>
              <a:path w="2119363" h="1195320">
                <a:moveTo>
                  <a:pt x="0" y="0"/>
                </a:moveTo>
                <a:lnTo>
                  <a:pt x="2119362" y="0"/>
                </a:lnTo>
                <a:lnTo>
                  <a:pt x="2119362" y="1195320"/>
                </a:lnTo>
                <a:lnTo>
                  <a:pt x="0" y="1195320"/>
                </a:lnTo>
                <a:lnTo>
                  <a:pt x="0" y="0"/>
                </a:lnTo>
                <a:close/>
              </a:path>
            </a:pathLst>
          </a:custGeom>
          <a:blipFill>
            <a:blip r:embed="rId4"/>
            <a:stretch>
              <a:fillRect/>
            </a:stretch>
          </a:blipFill>
        </p:spPr>
        <p:txBody>
          <a:bodyPr/>
          <a:lstStyle/>
          <a:p>
            <a:endParaRPr lang="en-IN"/>
          </a:p>
        </p:txBody>
      </p:sp>
      <p:sp>
        <p:nvSpPr>
          <p:cNvPr id="7" name="TextBox 7"/>
          <p:cNvSpPr txBox="1"/>
          <p:nvPr/>
        </p:nvSpPr>
        <p:spPr>
          <a:xfrm>
            <a:off x="1402335" y="1664460"/>
            <a:ext cx="9271675" cy="1039466"/>
          </a:xfrm>
          <a:prstGeom prst="rect">
            <a:avLst/>
          </a:prstGeom>
        </p:spPr>
        <p:txBody>
          <a:bodyPr lIns="0" tIns="0" rIns="0" bIns="0" rtlCol="0" anchor="t">
            <a:spAutoFit/>
          </a:bodyPr>
          <a:lstStyle/>
          <a:p>
            <a:pPr algn="l">
              <a:lnSpc>
                <a:spcPts val="7376"/>
              </a:lnSpc>
            </a:pPr>
            <a:r>
              <a:rPr lang="en-US" sz="7092" b="1">
                <a:solidFill>
                  <a:srgbClr val="FC0328"/>
                </a:solidFill>
                <a:latin typeface="Poppins Bold"/>
                <a:ea typeface="Poppins Bold"/>
                <a:cs typeface="Poppins Bold"/>
                <a:sym typeface="Poppins Bold"/>
              </a:rPr>
              <a:t>Recommendations</a:t>
            </a:r>
          </a:p>
        </p:txBody>
      </p:sp>
      <p:sp>
        <p:nvSpPr>
          <p:cNvPr id="8" name="TextBox 8"/>
          <p:cNvSpPr txBox="1"/>
          <p:nvPr/>
        </p:nvSpPr>
        <p:spPr>
          <a:xfrm>
            <a:off x="1402335" y="2827339"/>
            <a:ext cx="14941391" cy="6430961"/>
          </a:xfrm>
          <a:prstGeom prst="rect">
            <a:avLst/>
          </a:prstGeom>
        </p:spPr>
        <p:txBody>
          <a:bodyPr lIns="0" tIns="0" rIns="0" bIns="0" rtlCol="0" anchor="t">
            <a:spAutoFit/>
          </a:bodyPr>
          <a:lstStyle/>
          <a:p>
            <a:pPr marL="588107" lvl="1" indent="-294053" algn="l">
              <a:lnSpc>
                <a:spcPts val="4576"/>
              </a:lnSpc>
              <a:buFont typeface="Arial"/>
              <a:buChar char="•"/>
            </a:pPr>
            <a:r>
              <a:rPr lang="en-US" sz="2723">
                <a:solidFill>
                  <a:srgbClr val="0F0E0E"/>
                </a:solidFill>
                <a:latin typeface="Poppins"/>
                <a:ea typeface="Poppins"/>
                <a:cs typeface="Poppins"/>
                <a:sym typeface="Poppins"/>
              </a:rPr>
              <a:t>Improve delivery times in high-order regions to enhance satisfaction.</a:t>
            </a:r>
          </a:p>
          <a:p>
            <a:pPr marL="588107" lvl="1" indent="-294053" algn="l">
              <a:lnSpc>
                <a:spcPts val="4576"/>
              </a:lnSpc>
              <a:buFont typeface="Arial"/>
              <a:buChar char="•"/>
            </a:pPr>
            <a:r>
              <a:rPr lang="en-US" sz="2723">
                <a:solidFill>
                  <a:srgbClr val="0F0E0E"/>
                </a:solidFill>
                <a:latin typeface="Poppins"/>
                <a:ea typeface="Poppins"/>
                <a:cs typeface="Poppins"/>
                <a:sym typeface="Poppins"/>
              </a:rPr>
              <a:t>Use customer lifetime value (CLV) to segment and market to key audiences.</a:t>
            </a:r>
          </a:p>
          <a:p>
            <a:pPr marL="588107" lvl="1" indent="-294053" algn="l">
              <a:lnSpc>
                <a:spcPts val="4576"/>
              </a:lnSpc>
              <a:buFont typeface="Arial"/>
              <a:buChar char="•"/>
            </a:pPr>
            <a:r>
              <a:rPr lang="en-US" sz="2723">
                <a:solidFill>
                  <a:srgbClr val="0F0E0E"/>
                </a:solidFill>
                <a:latin typeface="Poppins"/>
                <a:ea typeface="Poppins"/>
                <a:cs typeface="Poppins"/>
                <a:sym typeface="Poppins"/>
              </a:rPr>
              <a:t>Promote products with high correlation to multiple purchases.</a:t>
            </a:r>
          </a:p>
          <a:p>
            <a:pPr marL="588107" lvl="1" indent="-294053" algn="l">
              <a:lnSpc>
                <a:spcPts val="4576"/>
              </a:lnSpc>
              <a:buFont typeface="Arial"/>
              <a:buChar char="•"/>
            </a:pPr>
            <a:r>
              <a:rPr lang="en-US" sz="2723">
                <a:solidFill>
                  <a:srgbClr val="0F0E0E"/>
                </a:solidFill>
                <a:latin typeface="Poppins"/>
                <a:ea typeface="Poppins"/>
                <a:cs typeface="Poppins"/>
                <a:sym typeface="Poppins"/>
              </a:rPr>
              <a:t>Offer limited-time deals during peak months (based on order frequency).</a:t>
            </a:r>
          </a:p>
          <a:p>
            <a:pPr marL="588107" lvl="1" indent="-294053" algn="l">
              <a:lnSpc>
                <a:spcPts val="4576"/>
              </a:lnSpc>
              <a:buFont typeface="Arial"/>
              <a:buChar char="•"/>
            </a:pPr>
            <a:r>
              <a:rPr lang="en-US" sz="2723">
                <a:solidFill>
                  <a:srgbClr val="0F0E0E"/>
                </a:solidFill>
                <a:latin typeface="Poppins"/>
                <a:ea typeface="Poppins"/>
                <a:cs typeface="Poppins"/>
                <a:sym typeface="Poppins"/>
              </a:rPr>
              <a:t>Utilize abandoned cart reminders to improve conversion.</a:t>
            </a:r>
          </a:p>
          <a:p>
            <a:pPr marL="588107" lvl="1" indent="-294053" algn="l">
              <a:lnSpc>
                <a:spcPts val="4576"/>
              </a:lnSpc>
              <a:buFont typeface="Arial"/>
              <a:buChar char="•"/>
            </a:pPr>
            <a:r>
              <a:rPr lang="en-US" sz="2723">
                <a:solidFill>
                  <a:srgbClr val="0F0E0E"/>
                </a:solidFill>
                <a:latin typeface="Poppins"/>
                <a:ea typeface="Poppins"/>
                <a:cs typeface="Poppins"/>
                <a:sym typeface="Poppins"/>
              </a:rPr>
              <a:t>Track retention rates monthly and launch re-engagement campaigns accordingly.</a:t>
            </a:r>
          </a:p>
          <a:p>
            <a:pPr marL="588107" lvl="1" indent="-294053" algn="l">
              <a:lnSpc>
                <a:spcPts val="4576"/>
              </a:lnSpc>
              <a:buFont typeface="Arial"/>
              <a:buChar char="•"/>
            </a:pPr>
            <a:r>
              <a:rPr lang="en-US" sz="2723">
                <a:solidFill>
                  <a:srgbClr val="0F0E0E"/>
                </a:solidFill>
                <a:latin typeface="Poppins"/>
                <a:ea typeface="Poppins"/>
                <a:cs typeface="Poppins"/>
                <a:sym typeface="Poppins"/>
              </a:rPr>
              <a:t> etc</a:t>
            </a:r>
          </a:p>
          <a:p>
            <a:pPr algn="l">
              <a:lnSpc>
                <a:spcPts val="4576"/>
              </a:lnSpc>
            </a:pPr>
            <a:endParaRPr lang="en-US" sz="2723">
              <a:solidFill>
                <a:srgbClr val="0F0E0E"/>
              </a:solidFill>
              <a:latin typeface="Poppins"/>
              <a:ea typeface="Poppins"/>
              <a:cs typeface="Poppins"/>
              <a:sym typeface="Poppins"/>
            </a:endParaRPr>
          </a:p>
          <a:p>
            <a:pPr algn="l">
              <a:lnSpc>
                <a:spcPts val="4576"/>
              </a:lnSpc>
            </a:pPr>
            <a:endParaRPr lang="en-US" sz="2723">
              <a:solidFill>
                <a:srgbClr val="0F0E0E"/>
              </a:solidFill>
              <a:latin typeface="Poppins"/>
              <a:ea typeface="Poppins"/>
              <a:cs typeface="Poppins"/>
              <a:sym typeface="Poppins"/>
            </a:endParaRPr>
          </a:p>
          <a:p>
            <a:pPr algn="l">
              <a:lnSpc>
                <a:spcPts val="4576"/>
              </a:lnSpc>
            </a:pPr>
            <a:endParaRPr lang="en-US" sz="2723">
              <a:solidFill>
                <a:srgbClr val="0F0E0E"/>
              </a:solidFill>
              <a:latin typeface="Poppins"/>
              <a:ea typeface="Poppins"/>
              <a:cs typeface="Poppins"/>
              <a:sym typeface="Poppins"/>
            </a:endParaRPr>
          </a:p>
          <a:p>
            <a:pPr algn="l">
              <a:lnSpc>
                <a:spcPts val="4576"/>
              </a:lnSpc>
            </a:pPr>
            <a:endParaRPr lang="en-US" sz="2723">
              <a:solidFill>
                <a:srgbClr val="0F0E0E"/>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548</Words>
  <Application>Microsoft Office PowerPoint</Application>
  <PresentationFormat>Custom</PresentationFormat>
  <Paragraphs>76</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Poppins Bold</vt:lpstr>
      <vt:lpstr>Calibri</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 dolor sit amet, consectetur adipiscing elit, sed do eiusmod tempor incididunt ut labore et dolore magna aliqua. Ut enim ad minim veniam, quis nostrud exercitation ullamco laboris nisi ut aliquip ex ea commodo consequat.</dc:title>
  <cp:lastModifiedBy>Umar Mushtaq</cp:lastModifiedBy>
  <cp:revision>1</cp:revision>
  <dcterms:created xsi:type="dcterms:W3CDTF">2006-08-16T00:00:00Z</dcterms:created>
  <dcterms:modified xsi:type="dcterms:W3CDTF">2025-06-21T06:19:57Z</dcterms:modified>
  <dc:identifier>DAGl_yZWZe8</dc:identifier>
</cp:coreProperties>
</file>